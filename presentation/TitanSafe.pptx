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b225faeda80d4c33" /><Relationship Type="http://schemas.openxmlformats.org/package/2006/relationships/metadata/core-properties" Target="/docProps/core.xml" Id="R51969c0e14b946b1" /><Relationship Type="http://schemas.openxmlformats.org/officeDocument/2006/relationships/extended-properties" Target="/docProps/app.xml" Id="Rd6e148cfe1814427" /><Relationship Type="http://schemas.openxmlformats.org/officeDocument/2006/relationships/custom-properties" Target="/docProps/custom.xml" Id="R3db7f2151f984b75"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ac940e8b45264569"/>
  </p:notesMasterIdLst>
  <p:sldIdLst>
    <p:sldId id="256" r:id="Rcc3e28f89b894f21"/>
    <p:sldId id="257" r:id="R35f705d7f89f4ec2"/>
    <p:sldId id="258" r:id="R6d0a7dbecb5c47bb"/>
    <p:sldId id="259" r:id="R89008e916b5a4c19"/>
    <p:sldId id="260" r:id="Rdc860a162f184789"/>
    <p:sldId id="261" r:id="R69fde3948fb54f1d"/>
    <p:sldId id="262" r:id="Rda6c5317f9134563"/>
    <p:sldId id="263" r:id="R00e53844b8a14171"/>
    <p:sldId id="264" r:id="R496c64ed5b44434d"/>
    <p:sldId id="265" r:id="R5c16cdeee9b84ad5"/>
    <p:sldId id="266" r:id="R61be311fd4514e4f"/>
    <p:sldId id="267" r:id="R910ced8e6c624dd9"/>
    <p:sldId id="268" r:id="R8dcd7d818c444202"/>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cc3e28f89b894f21" /><Relationship Type="http://schemas.openxmlformats.org/officeDocument/2006/relationships/notesMaster" Target="/ppt/notesMasters/notesMaster1.xml" Id="Rac940e8b45264569" /><Relationship Type="http://schemas.openxmlformats.org/officeDocument/2006/relationships/slide" Target="/ppt/slides/slide2.xml" Id="R35f705d7f89f4ec2" /><Relationship Type="http://schemas.openxmlformats.org/officeDocument/2006/relationships/slide" Target="/ppt/slides/slide3.xml" Id="R6d0a7dbecb5c47bb" /><Relationship Type="http://schemas.openxmlformats.org/officeDocument/2006/relationships/slide" Target="/ppt/slides/slide4.xml" Id="R89008e916b5a4c19" /><Relationship Type="http://schemas.openxmlformats.org/officeDocument/2006/relationships/slide" Target="/ppt/slides/slide5.xml" Id="Rdc860a162f184789" /><Relationship Type="http://schemas.openxmlformats.org/officeDocument/2006/relationships/slide" Target="/ppt/slides/slide6.xml" Id="R69fde3948fb54f1d" /><Relationship Type="http://schemas.openxmlformats.org/officeDocument/2006/relationships/slide" Target="/ppt/slides/slide7.xml" Id="Rda6c5317f9134563" /><Relationship Type="http://schemas.openxmlformats.org/officeDocument/2006/relationships/slide" Target="/ppt/slides/slide8.xml" Id="R00e53844b8a14171" /><Relationship Type="http://schemas.openxmlformats.org/officeDocument/2006/relationships/slide" Target="/ppt/slides/slide9.xml" Id="R496c64ed5b44434d" /><Relationship Type="http://schemas.openxmlformats.org/officeDocument/2006/relationships/slide" Target="/ppt/slides/slide10.xml" Id="R5c16cdeee9b84ad5" /><Relationship Type="http://schemas.openxmlformats.org/officeDocument/2006/relationships/slide" Target="/ppt/slides/slide11.xml" Id="R61be311fd4514e4f" /><Relationship Type="http://schemas.openxmlformats.org/officeDocument/2006/relationships/slide" Target="/ppt/slides/slide12.xml" Id="R910ced8e6c624dd9" /><Relationship Type="http://schemas.openxmlformats.org/officeDocument/2006/relationships/slide" Target="/ppt/slides/slide13.xml" Id="R8dcd7d818c4442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7aca629d797e4d24"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27fa5de2897348bf" /><Relationship Type="http://schemas.openxmlformats.org/officeDocument/2006/relationships/slide" Target="/ppt/slides/slide1.xml" Id="R6bd12bf5cae34d4b"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3bf346e0a7ec4d9b" /><Relationship Type="http://schemas.openxmlformats.org/officeDocument/2006/relationships/slide" Target="/ppt/slides/slide2.xml" Id="R887932fe339e47f3"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e3f484f94b774204" /><Relationship Type="http://schemas.openxmlformats.org/officeDocument/2006/relationships/slide" Target="/ppt/slides/slide3.xml" Id="R1058c664aca640a8"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6a9135bee7c14e50" /><Relationship Type="http://schemas.openxmlformats.org/officeDocument/2006/relationships/slide" Target="/ppt/slides/slide4.xml" Id="R684e0306a981422b"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d6168e62b0b149ee" /><Relationship Type="http://schemas.openxmlformats.org/officeDocument/2006/relationships/slide" Target="/ppt/slides/slide5.xml" Id="R3008b5ee53824398"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1f272d57364a4f22" /><Relationship Type="http://schemas.openxmlformats.org/officeDocument/2006/relationships/slide" Target="/ppt/slides/slide6.xml" Id="Re48f44db940748c8"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e3770a93d3fd4046" /><Relationship Type="http://schemas.openxmlformats.org/officeDocument/2006/relationships/slide" Target="/ppt/slides/slide7.xml" Id="R849f4523702644b9"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6cf5a08ce42748f3" /><Relationship Type="http://schemas.openxmlformats.org/officeDocument/2006/relationships/slide" Target="/ppt/slides/slide8.xml" Id="R71790e68e019411a"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8cd989d59d104987" /><Relationship Type="http://schemas.openxmlformats.org/officeDocument/2006/relationships/slide" Target="/ppt/slides/slide9.xml" Id="R3d98b04e03674de4" /></Relationships>
</file>

<file path=ppt/notesSlides/_rels/notesSlide10.xml.rels>&#65279;<?xml version="1.0" encoding="utf-8"?><Relationships xmlns="http://schemas.openxmlformats.org/package/2006/relationships"><Relationship Type="http://schemas.openxmlformats.org/officeDocument/2006/relationships/notesMaster" Target="/ppt/notesMasters/notesMaster1.xml" Id="Reae5a0fc1a584f13" /><Relationship Type="http://schemas.openxmlformats.org/officeDocument/2006/relationships/slide" Target="/ppt/slides/slide10.xml" Id="Rd43a8c6caadf45e3" /></Relationships>
</file>

<file path=ppt/notesSlides/_rels/notesSlide11.xml.rels>&#65279;<?xml version="1.0" encoding="utf-8"?><Relationships xmlns="http://schemas.openxmlformats.org/package/2006/relationships"><Relationship Type="http://schemas.openxmlformats.org/officeDocument/2006/relationships/notesMaster" Target="/ppt/notesMasters/notesMaster1.xml" Id="Rc3208abb643148bd" /><Relationship Type="http://schemas.openxmlformats.org/officeDocument/2006/relationships/slide" Target="/ppt/slides/slide11.xml" Id="Rcd1fd099ab304e49" /></Relationships>
</file>

<file path=ppt/notesSlides/_rels/notesSlide12.xml.rels>&#65279;<?xml version="1.0" encoding="utf-8"?><Relationships xmlns="http://schemas.openxmlformats.org/package/2006/relationships"><Relationship Type="http://schemas.openxmlformats.org/officeDocument/2006/relationships/notesMaster" Target="/ppt/notesMasters/notesMaster1.xml" Id="Rfe9be75e4eb24143" /><Relationship Type="http://schemas.openxmlformats.org/officeDocument/2006/relationships/slide" Target="/ppt/slides/slide12.xml" Id="R0f8a943d214e43f0" /></Relationships>
</file>

<file path=ppt/notesSlides/_rels/notesSlide13.xml.rels>&#65279;<?xml version="1.0" encoding="utf-8"?><Relationships xmlns="http://schemas.openxmlformats.org/package/2006/relationships"><Relationship Type="http://schemas.openxmlformats.org/officeDocument/2006/relationships/notesMaster" Target="/ppt/notesMasters/notesMaster1.xml" Id="Rf3ad2580b13d4044" /><Relationship Type="http://schemas.openxmlformats.org/officeDocument/2006/relationships/slide" Target="/ppt/slides/slide13.xml" Id="R0b5f0b4f5ab447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Opening slide. TitanSafe is a zero-dependency, pure-Python solution built to solve the privacy vs. enforcement dilemma on social media platforms.</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Set up the core problem. India has 900M+ internet users — bulk disclosure is enormous in scale. The 30-minute window between first post and offline violence is the critical gap.</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slide covers the two dominant OSINT paths. Path 1 has privacy concerns (bulk disclosure). Path 2 has regulatory concerns (unregulated scraping of public data). TitanSafe resolves both.</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TitanSafe's three-tier model. Each tier is gated. The platform retains raw data — it never leaves. The LEA gets proportional, verifiable slices.</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is the communal_riot dataset scenario. The key numbers: 47-account cluster, 312 posts in 18 minutes, T0 to officer deployment in under 25 minutes. 44 uninvolved users protected.</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Architecture overview. The Vault never exports raw data. All three tiers flow through policy.py and every action is audit-chained.</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crypto stack is the most unique part of TitanSafe. Reused from QBOM-ZT, proven against the same curve parameters. Zero external crypto dependencies — pure Python P-256.</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Seven datasets covering the range of real-world threat types seen in India. Each has 1000+ users. The organic noise and false-positive traps make detection non-trivial.</a:t>
            </a:r>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Competitive comparison. TitanSafe is the only approach that scores Yes on all four axes simultaneously. Every other approach fails on at least two.</a:t>
            </a:r>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Four stakeholder groups all benefit simultaneously — this is what makes TitanSafe unique. It isn't a trade-off between safety and privacy; it's both, provably.</a:t>
            </a:r>
          </a:p>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slide covers what the team is most proud of — the crypto chain — and IBM Bob's role throughout the project.</a:t>
            </a:r>
          </a:p>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Known limitations are honest — mock data, pure-Python crypto, keyword-based routing. The roadmap is clear and achievable in a 6-month production sprint.</a:t>
            </a:r>
          </a:p>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Closing slide. Live demo commands ready to run. Invite questions.</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3940b76a724f9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86c2d6366f54be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8bd65c591624df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221c7e41ec14ba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0ca5a0ac1644b48"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b4666aa84ef04adb"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7642e051c61f4202" /><Relationship Type="http://schemas.openxmlformats.org/officeDocument/2006/relationships/notesSlide" Target="/ppt/notesSlides/notesSlide1.xml" Id="Rba904aa017e0482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9c4de27147f4bbe" /><Relationship Type="http://schemas.openxmlformats.org/officeDocument/2006/relationships/notesSlide" Target="/ppt/notesSlides/notesSlide2.xml" Id="R60ff0c8fb28744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2a77c1f9aac435e" /><Relationship Type="http://schemas.openxmlformats.org/officeDocument/2006/relationships/notesSlide" Target="/ppt/notesSlides/notesSlide3.xml" Id="R3b557b61153e47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e931929cc4e4e47" /><Relationship Type="http://schemas.openxmlformats.org/officeDocument/2006/relationships/notesSlide" Target="/ppt/notesSlides/notesSlide4.xml" Id="R10e2acbbe6fc48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7e1e9de27bd4ee0" /><Relationship Type="http://schemas.openxmlformats.org/officeDocument/2006/relationships/notesSlide" Target="/ppt/notesSlides/notesSlide5.xml" Id="R03be83d65a154e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5d3608dc7cb41ae" /><Relationship Type="http://schemas.openxmlformats.org/officeDocument/2006/relationships/notesSlide" Target="/ppt/notesSlides/notesSlide6.xml" Id="R72d1901c2843412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723a6b14f21442c" /><Relationship Type="http://schemas.openxmlformats.org/officeDocument/2006/relationships/notesSlide" Target="/ppt/notesSlides/notesSlide7.xml" Id="Rb547a34bece948e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1fe41a8dfde4a64" /><Relationship Type="http://schemas.openxmlformats.org/officeDocument/2006/relationships/notesSlide" Target="/ppt/notesSlides/notesSlide8.xml" Id="Rf26add4b396e467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ce2f7a1ad464caa" /><Relationship Type="http://schemas.openxmlformats.org/officeDocument/2006/relationships/notesSlide" Target="/ppt/notesSlides/notesSlide9.xml" Id="R62f6d56f27ad4c2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e5d829022c0429e" /><Relationship Type="http://schemas.openxmlformats.org/officeDocument/2006/relationships/notesSlide" Target="/ppt/notesSlides/notesSlide10.xml" Id="Rd5cb488085084bb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ebf01ece5fe4190" /><Relationship Type="http://schemas.openxmlformats.org/officeDocument/2006/relationships/notesSlide" Target="/ppt/notesSlides/notesSlide11.xml" Id="R2744a0293619426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7545b942c29477c" /><Relationship Type="http://schemas.openxmlformats.org/officeDocument/2006/relationships/notesSlide" Target="/ppt/notesSlides/notesSlide12.xml" Id="R48e34003fc15426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33d005e89884a22" /><Relationship Type="http://schemas.openxmlformats.org/officeDocument/2006/relationships/notesSlide" Target="/ppt/notesSlides/notesSlide13.xml" Id="R99547ebc9eab44a4" /></Relationships>
</file>

<file path=ppt/slides/slide1.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p:sp>
        <p:nvSpPr>
          <p:cNvPr id="100000" name="Tag"/>
          <p:cNvSpPr txBox="1"/>
          <p:nvPr/>
        </p:nvSpPr>
        <p:spPr>
          <a:xfrm xmlns:a="http://schemas.openxmlformats.org/drawingml/2006/main">
            <a:off x="540000" y="540000"/>
            <a:ext cx="288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3B82F6"/>
                </a:solidFill>
              </a:rPr>
              <a:t>TITANSAFE</a:t>
            </a:r>
          </a:p>
        </p:txBody>
      </p:sp>
      <p:sp>
        <p:nvSpPr>
          <p:cNvPr id="100001" name="Title"/>
          <p:cNvSpPr txBox="1"/>
          <p:nvPr/>
        </p:nvSpPr>
        <p:spPr>
          <a:xfrm xmlns:a="http://schemas.openxmlformats.org/drawingml/2006/main">
            <a:off x="540000" y="1080000"/>
            <a:ext cx="10800000" cy="180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4400" b="1">
                <a:solidFill>
                  <a:srgbClr val="FFFFFF"/>
                </a:solidFill>
              </a:rPr>
              <a:t>Privacy-Preserving</a:t>
            </a:r>
          </a:p>
          <a:p xmlns:a="http://schemas.openxmlformats.org/drawingml/2006/main">
            <a:r>
              <a:rPr lang="en-US" sz="4400" b="1">
                <a:solidFill>
                  <a:srgbClr val="FFFFFF"/>
                </a:solidFill>
              </a:rPr>
              <a:t>Social Media Threat Intelligence</a:t>
            </a:r>
          </a:p>
        </p:txBody>
      </p:sp>
      <p:sp>
        <p:nvSpPr>
          <p:cNvPr id="100002" name="Sub"/>
          <p:cNvSpPr txBox="1"/>
          <p:nvPr/>
        </p:nvSpPr>
        <p:spPr>
          <a:xfrm xmlns:a="http://schemas.openxmlformats.org/drawingml/2006/main">
            <a:off x="540000" y="3060000"/>
            <a:ext cx="10080000" cy="90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a:solidFill>
                  <a:srgbClr val="94A3B8"/>
                </a:solidFill>
              </a:rPr>
              <a:t>A cryptographically verifiable abstraction layer between social media platforms and law enforcement — giving LEAs exactly what they need, and nothing more.</a:t>
            </a:r>
          </a:p>
        </p:txBody>
      </p:sp>
      <p:sp>
        <p:nvSpPr>
          <p:cNvPr id="100003" name="Team"/>
          <p:cNvSpPr txBox="1"/>
          <p:nvPr/>
        </p:nvSpPr>
        <p:spPr>
          <a:xfrm xmlns:a="http://schemas.openxmlformats.org/drawingml/2006/main">
            <a:off x="540000" y="5940000"/>
            <a:ext cx="108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475569"/>
                </a:solidFill>
              </a:rPr>
              <a:t>Team TitanSafe  ·  Track: AI  ·  Built with IBM Bob</a:t>
            </a:r>
          </a:p>
        </p:txBody>
      </p:sp>
    </p:spTree>
  </p:cSld>
</p:sld>
</file>

<file path=ppt/slides/slide2.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p:sp>
        <p:nvSpPr>
          <p:cNvPr id="100004" name="SlideNum"/>
          <p:cNvSpPr txBox="1"/>
          <p:nvPr/>
        </p:nvSpPr>
        <p:spPr>
          <a:xfrm xmlns:a="http://schemas.openxmlformats.org/drawingml/2006/main">
            <a:off x="10800000" y="180000"/>
            <a:ext cx="9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3B82F6"/>
                </a:solidFill>
              </a:rPr>
              <a:t>01</a:t>
            </a:r>
          </a:p>
        </p:txBody>
      </p:sp>
      <p:sp>
        <p:nvSpPr>
          <p:cNvPr id="100005" name="Title"/>
          <p:cNvSpPr txBox="1"/>
          <p:nvPr/>
        </p:nvSpPr>
        <p:spPr>
          <a:xfrm xmlns:a="http://schemas.openxmlformats.org/drawingml/2006/main">
            <a:off x="540000" y="360000"/>
            <a:ext cx="1008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FFFFFF"/>
                </a:solidFill>
              </a:rPr>
              <a:t>The Problem: A Broken Status Quo</a:t>
            </a:r>
          </a:p>
        </p:txBody>
      </p:sp>
      <p:sp>
        <p:nvSpPr>
          <p:cNvPr id="100006" name="Divider"/>
          <p:cNvSpPr txBox="1"/>
          <p:nvPr/>
        </p:nvSpPr>
        <p:spPr>
          <a:xfrm xmlns:a="http://schemas.openxmlformats.org/drawingml/2006/main">
            <a:off x="540000" y="1080000"/>
            <a:ext cx="10800000" cy="18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600">
              <a:solidFill>
                <a:srgbClr val="1E3A5F"/>
              </a:solidFill>
            </a:endParaRPr>
          </a:p>
        </p:txBody>
      </p:sp>
      <p:sp>
        <p:nvSpPr>
          <p:cNvPr id="100007" name="ContextHeading"/>
          <p:cNvSpPr txBox="1"/>
          <p:nvPr/>
        </p:nvSpPr>
        <p:spPr>
          <a:xfrm xmlns:a="http://schemas.openxmlformats.org/drawingml/2006/main">
            <a:off x="540000" y="1188000"/>
            <a:ext cx="108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b="1">
                <a:solidFill>
                  <a:srgbClr val="3B82F6"/>
                </a:solidFill>
              </a:rPr>
              <a:t>The Context</a:t>
            </a:r>
          </a:p>
        </p:txBody>
      </p:sp>
      <p:sp>
        <p:nvSpPr>
          <p:cNvPr id="100008" name="Context"/>
          <p:cNvSpPr txBox="1"/>
          <p:nvPr/>
        </p:nvSpPr>
        <p:spPr>
          <a:xfrm xmlns:a="http://schemas.openxmlformats.org/drawingml/2006/main">
            <a:off x="540000" y="1512000"/>
            <a:ext cx="10800000" cy="12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600">
                <a:solidFill>
                  <a:srgbClr val="CBD5E1"/>
                </a:solidFill>
              </a:rPr>
              <a:t>Social media platforms are the primary coordination surface for offline violence in India. Coordinated inauthentic accounts amplify incitement content in tight bursts — and the offline event happens before law enforcement can act.</a:t>
            </a:r>
          </a:p>
          <a:p xmlns:a="http://schemas.openxmlformats.org/drawingml/2006/main">
            <a:r>
              <a:rPr lang="en-US" sz="1600">
                <a:solidFill>
                  <a:srgbClr val="CBD5E1"/>
                </a:solidFill>
              </a:rPr>
              <a:t/>
            </a:r>
          </a:p>
          <a:p xmlns:a="http://schemas.openxmlformats.org/drawingml/2006/main">
            <a:r>
              <a:rPr lang="en-US" sz="1600">
                <a:solidFill>
                  <a:srgbClr val="CBD5E1"/>
                </a:solidFill>
              </a:rPr>
              <a:t>India's DPDP Act 2023 creates a legal tension: platforms are data fiduciaries with strong minimisation obligations, yet law enforcement needs real-time intelligence to prevent violence.</a:t>
            </a:r>
          </a:p>
        </p:txBody>
      </p:sp>
      <p:sp>
        <p:nvSpPr>
          <p:cNvPr id="100009" name="ChoiceHeading"/>
          <p:cNvSpPr txBox="1"/>
          <p:nvPr/>
        </p:nvSpPr>
        <p:spPr>
          <a:xfrm xmlns:a="http://schemas.openxmlformats.org/drawingml/2006/main">
            <a:off x="540000" y="2880000"/>
            <a:ext cx="108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b="1">
                <a:solidFill>
                  <a:srgbClr val="3B82F6"/>
                </a:solidFill>
              </a:rPr>
              <a:t>Today's Binary Choice — Both Options Fail</a:t>
            </a:r>
          </a:p>
        </p:txBody>
      </p:sp>
      <p:sp>
        <p:nvSpPr>
          <p:cNvPr id="100010" name="Option1Box"/>
          <p:cNvSpPr txBox="1"/>
          <p:nvPr/>
        </p:nvSpPr>
        <p:spPr>
          <a:xfrm xmlns:a="http://schemas.openxmlformats.org/drawingml/2006/main">
            <a:off x="540000" y="3240000"/>
            <a:ext cx="4860000" cy="1980000"/>
          </a:xfrm>
          <a:prstGeom xmlns:a="http://schemas.openxmlformats.org/drawingml/2006/main" prst="rect">
            <a:avLst/>
          </a:prstGeom>
          <a:solidFill xmlns:a="http://schemas.openxmlformats.org/drawingml/2006/main">
            <a:srgbClr val="1C2333"/>
          </a:solidFill>
        </p:spPr>
        <p:txBody>
          <a:bodyPr xmlns:a="http://schemas.openxmlformats.org/drawingml/2006/main"/>
          <a:lstStyle xmlns:a="http://schemas.openxmlformats.org/drawingml/2006/main"/>
          <a:p xmlns:a="http://schemas.openxmlformats.org/drawingml/2006/main">
            <a:r>
              <a:rPr lang="en-US" sz="1600">
                <a:solidFill>
                  <a:srgbClr val="CBD5E1"/>
                </a:solidFill>
              </a:rPr>
              <a:t>Option A</a:t>
            </a:r>
          </a:p>
          <a:p xmlns:a="http://schemas.openxmlformats.org/drawingml/2006/main">
            <a:r>
              <a:rPr lang="en-US" sz="1600">
                <a:solidFill>
                  <a:srgbClr val="CBD5E1"/>
                </a:solidFill>
              </a:rPr>
              <a:t>Ask for Nothing</a:t>
            </a:r>
          </a:p>
          <a:p xmlns:a="http://schemas.openxmlformats.org/drawingml/2006/main">
            <a:r>
              <a:rPr lang="en-US" sz="1600">
                <a:solidFill>
                  <a:srgbClr val="CBD5E1"/>
                </a:solidFill>
              </a:rPr>
              <a:t/>
            </a:r>
          </a:p>
          <a:p xmlns:a="http://schemas.openxmlformats.org/drawingml/2006/main">
            <a:r>
              <a:rPr lang="en-US" sz="1600">
                <a:solidFill>
                  <a:srgbClr val="CBD5E1"/>
                </a:solidFill>
              </a:rPr>
              <a:t>Lose the 30–90 minute window. Offline violence happens before any intelligence reaches the officer.</a:t>
            </a:r>
          </a:p>
        </p:txBody>
      </p:sp>
      <p:sp>
        <p:nvSpPr>
          <p:cNvPr id="100011" name="Option2Box"/>
          <p:cNvSpPr txBox="1"/>
          <p:nvPr/>
        </p:nvSpPr>
        <p:spPr>
          <a:xfrm xmlns:a="http://schemas.openxmlformats.org/drawingml/2006/main">
            <a:off x="6120000" y="3240000"/>
            <a:ext cx="5220000" cy="1980000"/>
          </a:xfrm>
          <a:prstGeom xmlns:a="http://schemas.openxmlformats.org/drawingml/2006/main" prst="rect">
            <a:avLst/>
          </a:prstGeom>
          <a:solidFill xmlns:a="http://schemas.openxmlformats.org/drawingml/2006/main">
            <a:srgbClr val="1C2333"/>
          </a:solidFill>
        </p:spPr>
        <p:txBody>
          <a:bodyPr xmlns:a="http://schemas.openxmlformats.org/drawingml/2006/main"/>
          <a:lstStyle xmlns:a="http://schemas.openxmlformats.org/drawingml/2006/main"/>
          <a:p xmlns:a="http://schemas.openxmlformats.org/drawingml/2006/main">
            <a:r>
              <a:rPr lang="en-US" sz="1600">
                <a:solidFill>
                  <a:srgbClr val="CBD5E1"/>
                </a:solidFill>
              </a:rPr>
              <a:t>Option B</a:t>
            </a:r>
          </a:p>
          <a:p xmlns:a="http://schemas.openxmlformats.org/drawingml/2006/main">
            <a:r>
              <a:rPr lang="en-US" sz="1600">
                <a:solidFill>
                  <a:srgbClr val="CBD5E1"/>
                </a:solidFill>
              </a:rPr>
              <a:t>Ask for Everything</a:t>
            </a:r>
          </a:p>
          <a:p xmlns:a="http://schemas.openxmlformats.org/drawingml/2006/main">
            <a:r>
              <a:rPr lang="en-US" sz="1600">
                <a:solidFill>
                  <a:srgbClr val="CBD5E1"/>
                </a:solidFill>
              </a:rPr>
              <a:t/>
            </a:r>
          </a:p>
          <a:p xmlns:a="http://schemas.openxmlformats.org/drawingml/2006/main">
            <a:r>
              <a:rPr lang="en-US" sz="1600">
                <a:solidFill>
                  <a:srgbClr val="CBD5E1"/>
                </a:solidFill>
              </a:rPr>
              <a:t>Bulk data dumps of all posts, phone numbers, emails &amp; social graphs — violates DPDP, exposes thousands of innocent users.</a:t>
            </a:r>
          </a:p>
        </p:txBody>
      </p:sp>
      <p:sp>
        <p:nvSpPr>
          <p:cNvPr id="100012" name="Gap"/>
          <p:cNvSpPr txBox="1"/>
          <p:nvPr/>
        </p:nvSpPr>
        <p:spPr>
          <a:xfrm xmlns:a="http://schemas.openxmlformats.org/drawingml/2006/main">
            <a:off x="540000" y="5328000"/>
            <a:ext cx="10800000" cy="324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500" b="1">
                <a:solidFill>
                  <a:srgbClr val="F87171"/>
                </a:solidFill>
              </a:rPr>
              <a:t>No privacy-safe, cryptographically verifiable middle path exists today.</a:t>
            </a:r>
          </a:p>
        </p:txBody>
      </p:sp>
    </p:spTree>
  </p:cSld>
</p:sld>
</file>

<file path=ppt/slides/slide3.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p:sp>
        <p:nvSpPr>
          <p:cNvPr id="100013" name="SlideNum"/>
          <p:cNvSpPr txBox="1"/>
          <p:nvPr/>
        </p:nvSpPr>
        <p:spPr>
          <a:xfrm xmlns:a="http://schemas.openxmlformats.org/drawingml/2006/main">
            <a:off x="10800000" y="180000"/>
            <a:ext cx="9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3B82F6"/>
                </a:solidFill>
              </a:rPr>
              <a:t>02</a:t>
            </a:r>
          </a:p>
        </p:txBody>
      </p:sp>
      <p:sp>
        <p:nvSpPr>
          <p:cNvPr id="100014" name="Title"/>
          <p:cNvSpPr txBox="1"/>
          <p:nvPr/>
        </p:nvSpPr>
        <p:spPr>
          <a:xfrm xmlns:a="http://schemas.openxmlformats.org/drawingml/2006/main">
            <a:off x="540000" y="360000"/>
            <a:ext cx="1008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FFFFFF"/>
                </a:solidFill>
              </a:rPr>
              <a:t>How Law Enforcement Uses OSINT Today</a:t>
            </a:r>
          </a:p>
        </p:txBody>
      </p:sp>
      <p:sp>
        <p:nvSpPr>
          <p:cNvPr id="100015" name="SubTitle"/>
          <p:cNvSpPr txBox="1"/>
          <p:nvPr/>
        </p:nvSpPr>
        <p:spPr>
          <a:xfrm xmlns:a="http://schemas.openxmlformats.org/drawingml/2006/main">
            <a:off x="540000" y="1008000"/>
            <a:ext cx="1008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600">
                <a:solidFill>
                  <a:srgbClr val="94A3B8"/>
                </a:solidFill>
              </a:rPr>
              <a:t>Two dominant paths — both with serious limitations</a:t>
            </a:r>
          </a:p>
        </p:txBody>
      </p:sp>
      <p:sp>
        <p:nvSpPr>
          <p:cNvPr id="100016" name="Path1Header"/>
          <p:cNvSpPr txBox="1"/>
          <p:nvPr/>
        </p:nvSpPr>
        <p:spPr>
          <a:xfrm xmlns:a="http://schemas.openxmlformats.org/drawingml/2006/main">
            <a:off x="540000" y="1440000"/>
            <a:ext cx="5040000" cy="324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400" b="1">
                <a:solidFill>
                  <a:srgbClr val="FFFFFF"/>
                </a:solidFill>
              </a:rPr>
              <a:t>PATH 1  ·  Direct Platform Request</a:t>
            </a:r>
          </a:p>
        </p:txBody>
      </p:sp>
      <p:sp>
        <p:nvSpPr>
          <p:cNvPr id="100017" name="Path1Body"/>
          <p:cNvSpPr txBox="1"/>
          <p:nvPr/>
        </p:nvSpPr>
        <p:spPr>
          <a:xfrm xmlns:a="http://schemas.openxmlformats.org/drawingml/2006/main">
            <a:off x="540000" y="1836000"/>
            <a:ext cx="5040000" cy="3312000"/>
          </a:xfrm>
          <a:prstGeom xmlns:a="http://schemas.openxmlformats.org/drawingml/2006/main" prst="rect">
            <a:avLst/>
          </a:prstGeom>
          <a:solidFill xmlns:a="http://schemas.openxmlformats.org/drawingml/2006/main">
            <a:srgbClr val="0F1F35"/>
          </a:solidFill>
        </p:spPr>
        <p:txBody>
          <a:bodyPr xmlns:a="http://schemas.openxmlformats.org/drawingml/2006/main"/>
          <a:lstStyle xmlns:a="http://schemas.openxmlformats.org/drawingml/2006/main"/>
          <a:p xmlns:a="http://schemas.openxmlformats.org/drawingml/2006/main">
            <a:r>
              <a:rPr lang="en-US" sz="1400">
                <a:solidFill>
                  <a:srgbClr val="CBD5E1"/>
                </a:solidFill>
              </a:rPr>
              <a:t>Law enforcement agencies formally contact social media companies (Twitter/X, Meta, YouTube, etc.) and request user data relevant to a case — posts, accounts, connections, IP addresses.</a:t>
            </a:r>
          </a:p>
          <a:p xmlns:a="http://schemas.openxmlformats.org/drawingml/2006/main">
            <a:r>
              <a:rPr lang="en-US" sz="1400">
                <a:solidFill>
                  <a:srgbClr val="CBD5E1"/>
                </a:solidFill>
              </a:rPr>
              <a:t/>
            </a:r>
          </a:p>
          <a:p xmlns:a="http://schemas.openxmlformats.org/drawingml/2006/main">
            <a:r>
              <a:rPr lang="en-US" sz="1400">
                <a:solidFill>
                  <a:srgbClr val="CBD5E1"/>
                </a:solidFill>
              </a:rPr>
              <a:t>• Used for: criminal investigations, court proceedings, FIR follow-ups</a:t>
            </a:r>
          </a:p>
          <a:p xmlns:a="http://schemas.openxmlformats.org/drawingml/2006/main">
            <a:r>
              <a:rPr lang="en-US" sz="1400">
                <a:solidFill>
                  <a:srgbClr val="CBD5E1"/>
                </a:solidFill>
              </a:rPr>
              <a:t>• Process: formal legal notice / MLA request to platform's nodal officer</a:t>
            </a:r>
          </a:p>
          <a:p xmlns:a="http://schemas.openxmlformats.org/drawingml/2006/main">
            <a:r>
              <a:rPr lang="en-US" sz="1400">
                <a:solidFill>
                  <a:srgbClr val="CBD5E1"/>
                </a:solidFill>
              </a:rPr>
              <a:t>• Timeline: days to weeks</a:t>
            </a:r>
          </a:p>
          <a:p xmlns:a="http://schemas.openxmlformats.org/drawingml/2006/main">
            <a:r>
              <a:rPr lang="en-US" sz="1400">
                <a:solidFill>
                  <a:srgbClr val="CBD5E1"/>
                </a:solidFill>
              </a:rPr>
              <a:t>• Response: bulk raw data dumps — far more than needed</a:t>
            </a:r>
          </a:p>
          <a:p xmlns:a="http://schemas.openxmlformats.org/drawingml/2006/main">
            <a:r>
              <a:rPr lang="en-US" sz="1400">
                <a:solidFill>
                  <a:srgbClr val="CBD5E1"/>
                </a:solidFill>
              </a:rPr>
              <a:t/>
            </a:r>
          </a:p>
          <a:p xmlns:a="http://schemas.openxmlformats.org/drawingml/2006/main">
            <a:r>
              <a:rPr lang="en-US" sz="1400">
                <a:solidFill>
                  <a:srgbClr val="CBD5E1"/>
                </a:solidFill>
              </a:rPr>
              <a:t>⚠  Privacy Concern: Innocent users caught in bulk disclosure. Platforms share entire account data, not just case-relevant records. Violates DPDP Act 2023 minimisation obligations (s.8(5)). Creates mass surveillance risk.</a:t>
            </a:r>
          </a:p>
        </p:txBody>
      </p:sp>
      <p:sp>
        <p:nvSpPr>
          <p:cNvPr id="100018" name="Path2Header"/>
          <p:cNvSpPr txBox="1"/>
          <p:nvPr/>
        </p:nvSpPr>
        <p:spPr>
          <a:xfrm xmlns:a="http://schemas.openxmlformats.org/drawingml/2006/main">
            <a:off x="6300000" y="1440000"/>
            <a:ext cx="5040000" cy="324000"/>
          </a:xfrm>
          <a:prstGeom xmlns:a="http://schemas.openxmlformats.org/drawingml/2006/main" prst="rect">
            <a:avLst/>
          </a:prstGeom>
          <a:solidFill xmlns:a="http://schemas.openxmlformats.org/drawingml/2006/main">
            <a:srgbClr val="1A3326"/>
          </a:solidFill>
        </p:spPr>
        <p:txBody>
          <a:bodyPr xmlns:a="http://schemas.openxmlformats.org/drawingml/2006/main"/>
          <a:lstStyle xmlns:a="http://schemas.openxmlformats.org/drawingml/2006/main"/>
          <a:p xmlns:a="http://schemas.openxmlformats.org/drawingml/2006/main">
            <a:r>
              <a:rPr lang="en-US" sz="1400" b="1">
                <a:solidFill>
                  <a:srgbClr val="FFFFFF"/>
                </a:solidFill>
              </a:rPr>
              <a:t>PATH 2  ·  Open Source Intelligence (OSINT)</a:t>
            </a:r>
          </a:p>
        </p:txBody>
      </p:sp>
      <p:sp>
        <p:nvSpPr>
          <p:cNvPr id="100019" name="Path2Body"/>
          <p:cNvSpPr txBox="1"/>
          <p:nvPr/>
        </p:nvSpPr>
        <p:spPr>
          <a:xfrm xmlns:a="http://schemas.openxmlformats.org/drawingml/2006/main">
            <a:off x="6300000" y="1836000"/>
            <a:ext cx="5040000" cy="3312000"/>
          </a:xfrm>
          <a:prstGeom xmlns:a="http://schemas.openxmlformats.org/drawingml/2006/main" prst="rect">
            <a:avLst/>
          </a:prstGeom>
          <a:solidFill xmlns:a="http://schemas.openxmlformats.org/drawingml/2006/main">
            <a:srgbClr val="0D2018"/>
          </a:solidFill>
        </p:spPr>
        <p:txBody>
          <a:bodyPr xmlns:a="http://schemas.openxmlformats.org/drawingml/2006/main"/>
          <a:lstStyle xmlns:a="http://schemas.openxmlformats.org/drawingml/2006/main"/>
          <a:p xmlns:a="http://schemas.openxmlformats.org/drawingml/2006/main">
            <a:r>
              <a:rPr lang="en-US" sz="1400">
                <a:solidFill>
                  <a:srgbClr val="CBD5E1"/>
                </a:solidFill>
              </a:rPr>
              <a:t>Analysts at investigation agencies manually gather publicly available information from the web — social profiles, posts, images, geo-tags, public forums — to build context around a case.</a:t>
            </a:r>
          </a:p>
          <a:p xmlns:a="http://schemas.openxmlformats.org/drawingml/2006/main">
            <a:r>
              <a:rPr lang="en-US" sz="1400">
                <a:solidFill>
                  <a:srgbClr val="CBD5E1"/>
                </a:solidFill>
              </a:rPr>
              <a:t/>
            </a:r>
          </a:p>
          <a:p xmlns:a="http://schemas.openxmlformats.org/drawingml/2006/main">
            <a:r>
              <a:rPr lang="en-US" sz="1400">
                <a:solidFill>
                  <a:srgbClr val="CBD5E1"/>
                </a:solidFill>
              </a:rPr>
              <a:t>• Used for: background research, suspect profiling, crowd-sourcing leads</a:t>
            </a:r>
          </a:p>
          <a:p xmlns:a="http://schemas.openxmlformats.org/drawingml/2006/main">
            <a:r>
              <a:rPr lang="en-US" sz="1400">
                <a:solidFill>
                  <a:srgbClr val="CBD5E1"/>
                </a:solidFill>
              </a:rPr>
              <a:t>• Tools: Google Dorking, Maltego, social scraping, open databases</a:t>
            </a:r>
          </a:p>
          <a:p xmlns:a="http://schemas.openxmlformats.org/drawingml/2006/main">
            <a:r>
              <a:rPr lang="en-US" sz="1400">
                <a:solidFill>
                  <a:srgbClr val="CBD5E1"/>
                </a:solidFill>
              </a:rPr>
              <a:t>• Timeline: real-time to hours</a:t>
            </a:r>
          </a:p>
          <a:p xmlns:a="http://schemas.openxmlformats.org/drawingml/2006/main">
            <a:r>
              <a:rPr lang="en-US" sz="1400">
                <a:solidFill>
                  <a:srgbClr val="CBD5E1"/>
                </a:solidFill>
              </a:rPr>
              <a:t>• Output: context and reference material to guide the investigation</a:t>
            </a:r>
          </a:p>
          <a:p xmlns:a="http://schemas.openxmlformats.org/drawingml/2006/main">
            <a:r>
              <a:rPr lang="en-US" sz="1400">
                <a:solidFill>
                  <a:srgbClr val="CBD5E1"/>
                </a:solidFill>
              </a:rPr>
              <a:t/>
            </a:r>
          </a:p>
          <a:p xmlns:a="http://schemas.openxmlformats.org/drawingml/2006/main">
            <a:r>
              <a:rPr lang="en-US" sz="1400">
                <a:solidFill>
                  <a:srgbClr val="CBD5E1"/>
                </a:solidFill>
              </a:rPr>
              <a:t>⚠  Regulatory Concern: Data scraped from public web belongs to private individuals. No legal gate, no consent, no oversight. When used to profile anyone (even non-suspects), it risks violating DPDP rights of data principals — chilling effect on lawful speech.</a:t>
            </a:r>
          </a:p>
        </p:txBody>
      </p:sp>
      <p:sp>
        <p:nvSpPr>
          <p:cNvPr id="100020" name="Vs"/>
          <p:cNvSpPr txBox="1"/>
          <p:nvPr/>
        </p:nvSpPr>
        <p:spPr>
          <a:xfrm xmlns:a="http://schemas.openxmlformats.org/drawingml/2006/main">
            <a:off x="5508000" y="3060000"/>
            <a:ext cx="792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b="1">
                <a:solidFill>
                  <a:srgbClr val="94A3B8"/>
                </a:solidFill>
              </a:rPr>
              <a:t>VS</a:t>
            </a:r>
          </a:p>
        </p:txBody>
      </p:sp>
    </p:spTree>
  </p:cSld>
</p:sld>
</file>

<file path=ppt/slides/slide4.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p:sp>
        <p:nvSpPr>
          <p:cNvPr id="100021" name="SlideNum"/>
          <p:cNvSpPr txBox="1"/>
          <p:nvPr/>
        </p:nvSpPr>
        <p:spPr>
          <a:xfrm xmlns:a="http://schemas.openxmlformats.org/drawingml/2006/main">
            <a:off x="10800000" y="180000"/>
            <a:ext cx="9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3B82F6"/>
                </a:solidFill>
              </a:rPr>
              <a:t>03</a:t>
            </a:r>
          </a:p>
        </p:txBody>
      </p:sp>
      <p:sp>
        <p:nvSpPr>
          <p:cNvPr id="100022" name="Title"/>
          <p:cNvSpPr txBox="1"/>
          <p:nvPr/>
        </p:nvSpPr>
        <p:spPr>
          <a:xfrm xmlns:a="http://schemas.openxmlformats.org/drawingml/2006/main">
            <a:off x="540000" y="360000"/>
            <a:ext cx="1008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FFFFFF"/>
                </a:solidFill>
              </a:rPr>
              <a:t>Introducing TitanSafe</a:t>
            </a:r>
          </a:p>
        </p:txBody>
      </p:sp>
      <p:sp>
        <p:nvSpPr>
          <p:cNvPr id="100023" name="Sub"/>
          <p:cNvSpPr txBox="1"/>
          <p:nvPr/>
        </p:nvSpPr>
        <p:spPr>
          <a:xfrm xmlns:a="http://schemas.openxmlformats.org/drawingml/2006/main">
            <a:off x="540000" y="1008000"/>
            <a:ext cx="1008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a:solidFill>
                  <a:srgbClr val="3B82F6"/>
                </a:solidFill>
              </a:rPr>
              <a:t>The privacy-safe, cryptographically verifiable middle path</a:t>
            </a:r>
          </a:p>
        </p:txBody>
      </p:sp>
      <p:sp>
        <p:nvSpPr>
          <p:cNvPr id="100024" name="Desc"/>
          <p:cNvSpPr txBox="1"/>
          <p:nvPr/>
        </p:nvSpPr>
        <p:spPr>
          <a:xfrm xmlns:a="http://schemas.openxmlformats.org/drawingml/2006/main">
            <a:off x="540000" y="1368000"/>
            <a:ext cx="10800000" cy="90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600">
                <a:solidFill>
                  <a:srgbClr val="CBD5E1"/>
                </a:solidFill>
              </a:rPr>
              <a:t>TitanSafe is a zero-dependency, pure-Python abstraction layer that runs inside the social media platform's own trust boundary. It detects coordinated inauthentic behaviour (CIB) in real time and releases evidence to law enforcement through three cryptographically gated tiers — giving LEAs exactly what they need to act, and nothing more.</a:t>
            </a:r>
          </a:p>
        </p:txBody>
      </p:sp>
      <p:sp>
        <p:nvSpPr>
          <p:cNvPr id="100025" name="T0Box"/>
          <p:cNvSpPr txBox="1"/>
          <p:nvPr/>
        </p:nvSpPr>
        <p:spPr>
          <a:xfrm xmlns:a="http://schemas.openxmlformats.org/drawingml/2006/main">
            <a:off x="540000" y="2448000"/>
            <a:ext cx="3420000" cy="252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r>
              <a:rPr lang="en-US" sz="1300">
                <a:solidFill>
                  <a:srgbClr val="93C5FD"/>
                </a:solidFill>
              </a:rPr>
              <a:t>TIER 0</a:t>
            </a:r>
          </a:p>
          <a:p xmlns:a="http://schemas.openxmlformats.org/drawingml/2006/main">
            <a:r>
              <a:rPr lang="en-US" sz="1300">
                <a:solidFill>
                  <a:srgbClr val="93C5FD"/>
                </a:solidFill>
              </a:rPr>
              <a:t>Attestation</a:t>
            </a:r>
          </a:p>
          <a:p xmlns:a="http://schemas.openxmlformats.org/drawingml/2006/main">
            <a:r>
              <a:rPr lang="en-US" sz="1300">
                <a:solidFill>
                  <a:srgbClr val="93C5FD"/>
                </a:solidFill>
              </a:rPr>
              <a:t/>
            </a:r>
          </a:p>
          <a:p xmlns:a="http://schemas.openxmlformats.org/drawingml/2006/main">
            <a:r>
              <a:rPr lang="en-US" sz="1300">
                <a:solidFill>
                  <a:srgbClr val="93C5FD"/>
                </a:solidFill>
              </a:rPr>
              <a:t>Threat type · Severity · CIB score · Key phrases · Legal sections · ZK proof cluster has ≥k accounts · Merkle root</a:t>
            </a:r>
          </a:p>
          <a:p xmlns:a="http://schemas.openxmlformats.org/drawingml/2006/main">
            <a:r>
              <a:rPr lang="en-US" sz="1300">
                <a:solidFill>
                  <a:srgbClr val="93C5FD"/>
                </a:solidFill>
              </a:rPr>
              <a:t/>
            </a:r>
          </a:p>
          <a:p xmlns:a="http://schemas.openxmlformats.org/drawingml/2006/main">
            <a:r>
              <a:rPr lang="en-US" sz="1300">
                <a:solidFill>
                  <a:srgbClr val="93C5FD"/>
                </a:solidFill>
              </a:rPr>
              <a:t>NO personal data</a:t>
            </a:r>
          </a:p>
        </p:txBody>
      </p:sp>
      <p:sp>
        <p:nvSpPr>
          <p:cNvPr id="100026" name="T0Gate"/>
          <p:cNvSpPr txBox="1"/>
          <p:nvPr/>
        </p:nvSpPr>
        <p:spPr>
          <a:xfrm xmlns:a="http://schemas.openxmlformats.org/drawingml/2006/main">
            <a:off x="540000" y="5076000"/>
            <a:ext cx="342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64748B"/>
                </a:solidFill>
              </a:rPr>
              <a:t>Auto-approved</a:t>
            </a:r>
          </a:p>
          <a:p xmlns:a="http://schemas.openxmlformats.org/drawingml/2006/main">
            <a:r>
              <a:rPr lang="en-US" sz="1100">
                <a:solidFill>
                  <a:srgbClr val="64748B"/>
                </a:solidFill>
              </a:rPr>
              <a:t>Purpose statement</a:t>
            </a:r>
          </a:p>
        </p:txBody>
      </p:sp>
      <p:sp>
        <p:nvSpPr>
          <p:cNvPr id="100027" name="T1Box"/>
          <p:cNvSpPr txBox="1"/>
          <p:nvPr/>
        </p:nvSpPr>
        <p:spPr>
          <a:xfrm xmlns:a="http://schemas.openxmlformats.org/drawingml/2006/main">
            <a:off x="4428000" y="2448000"/>
            <a:ext cx="3420000" cy="2520000"/>
          </a:xfrm>
          <a:prstGeom xmlns:a="http://schemas.openxmlformats.org/drawingml/2006/main" prst="rect">
            <a:avLst/>
          </a:prstGeom>
          <a:solidFill xmlns:a="http://schemas.openxmlformats.org/drawingml/2006/main">
            <a:srgbClr val="0A2018"/>
          </a:solidFill>
        </p:spPr>
        <p:txBody>
          <a:bodyPr xmlns:a="http://schemas.openxmlformats.org/drawingml/2006/main"/>
          <a:lstStyle xmlns:a="http://schemas.openxmlformats.org/drawingml/2006/main"/>
          <a:p xmlns:a="http://schemas.openxmlformats.org/drawingml/2006/main">
            <a:r>
              <a:rPr lang="en-US" sz="1300">
                <a:solidFill>
                  <a:srgbClr val="86EFAC"/>
                </a:solidFill>
              </a:rPr>
              <a:t>TIER 1</a:t>
            </a:r>
          </a:p>
          <a:p xmlns:a="http://schemas.openxmlformats.org/drawingml/2006/main">
            <a:r>
              <a:rPr lang="en-US" sz="1300">
                <a:solidFill>
                  <a:srgbClr val="86EFAC"/>
                </a:solidFill>
              </a:rPr>
              <a:t>Pseudonymous Evidence</a:t>
            </a:r>
          </a:p>
          <a:p xmlns:a="http://schemas.openxmlformats.org/drawingml/2006/main">
            <a:r>
              <a:rPr lang="en-US" sz="1300">
                <a:solidFill>
                  <a:srgbClr val="86EFAC"/>
                </a:solidFill>
              </a:rPr>
              <a:t/>
            </a:r>
          </a:p>
          <a:p xmlns:a="http://schemas.openxmlformats.org/drawingml/2006/main">
            <a:r>
              <a:rPr lang="en-US" sz="1300">
                <a:solidFill>
                  <a:srgbClr val="86EFAC"/>
                </a:solidFill>
              </a:rPr>
              <a:t>Per-case pseudonyms · Age &amp; follower bands · Redacted posts · Merkle inclusion proofs</a:t>
            </a:r>
          </a:p>
          <a:p xmlns:a="http://schemas.openxmlformats.org/drawingml/2006/main">
            <a:r>
              <a:rPr lang="en-US" sz="1300">
                <a:solidFill>
                  <a:srgbClr val="86EFAC"/>
                </a:solidFill>
              </a:rPr>
              <a:t/>
            </a:r>
          </a:p>
          <a:p xmlns:a="http://schemas.openxmlformats.org/drawingml/2006/main">
            <a:r>
              <a:rPr lang="en-US" sz="1300">
                <a:solidFill>
                  <a:srgbClr val="86EFAC"/>
                </a:solidFill>
              </a:rPr>
              <a:t>NO real identities</a:t>
            </a:r>
          </a:p>
        </p:txBody>
      </p:sp>
      <p:sp>
        <p:nvSpPr>
          <p:cNvPr id="100028" name="T1Gate"/>
          <p:cNvSpPr txBox="1"/>
          <p:nvPr/>
        </p:nvSpPr>
        <p:spPr>
          <a:xfrm xmlns:a="http://schemas.openxmlformats.org/drawingml/2006/main">
            <a:off x="4428000" y="5076000"/>
            <a:ext cx="342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64748B"/>
                </a:solidFill>
              </a:rPr>
              <a:t>Legal basis + Nodal officer approval + CIB ≥ 0.60</a:t>
            </a:r>
          </a:p>
        </p:txBody>
      </p:sp>
      <p:sp>
        <p:nvSpPr>
          <p:cNvPr id="100029" name="T2Box"/>
          <p:cNvSpPr txBox="1"/>
          <p:nvPr/>
        </p:nvSpPr>
        <p:spPr>
          <a:xfrm xmlns:a="http://schemas.openxmlformats.org/drawingml/2006/main">
            <a:off x="8316000" y="2448000"/>
            <a:ext cx="3420000" cy="2520000"/>
          </a:xfrm>
          <a:prstGeom xmlns:a="http://schemas.openxmlformats.org/drawingml/2006/main" prst="rect">
            <a:avLst/>
          </a:prstGeom>
          <a:solidFill xmlns:a="http://schemas.openxmlformats.org/drawingml/2006/main">
            <a:srgbClr val="200A0A"/>
          </a:solidFill>
        </p:spPr>
        <p:txBody>
          <a:bodyPr xmlns:a="http://schemas.openxmlformats.org/drawingml/2006/main"/>
          <a:lstStyle xmlns:a="http://schemas.openxmlformats.org/drawingml/2006/main"/>
          <a:p xmlns:a="http://schemas.openxmlformats.org/drawingml/2006/main">
            <a:r>
              <a:rPr lang="en-US" sz="1300">
                <a:solidFill>
                  <a:srgbClr val="FCA5A5"/>
                </a:solidFill>
              </a:rPr>
              <a:t>TIER 2</a:t>
            </a:r>
          </a:p>
          <a:p xmlns:a="http://schemas.openxmlformats.org/drawingml/2006/main">
            <a:r>
              <a:rPr lang="en-US" sz="1300">
                <a:solidFill>
                  <a:srgbClr val="FCA5A5"/>
                </a:solidFill>
              </a:rPr>
              <a:t>Identity Reveal</a:t>
            </a:r>
          </a:p>
          <a:p xmlns:a="http://schemas.openxmlformats.org/drawingml/2006/main">
            <a:r>
              <a:rPr lang="en-US" sz="1300">
                <a:solidFill>
                  <a:srgbClr val="FCA5A5"/>
                </a:solidFill>
              </a:rPr>
              <a:t/>
            </a:r>
          </a:p>
          <a:p xmlns:a="http://schemas.openxmlformats.org/drawingml/2006/main">
            <a:r>
              <a:rPr lang="en-US" sz="1300">
                <a:solidFill>
                  <a:srgbClr val="FCA5A5"/>
                </a:solidFill>
              </a:rPr>
              <a:t>User ID · Handle · Region — for named pseudonyms only, bound by cryptographic proof</a:t>
            </a:r>
          </a:p>
          <a:p xmlns:a="http://schemas.openxmlformats.org/drawingml/2006/main">
            <a:r>
              <a:rPr lang="en-US" sz="1300">
                <a:solidFill>
                  <a:srgbClr val="FCA5A5"/>
                </a:solidFill>
              </a:rPr>
              <a:t/>
            </a:r>
          </a:p>
          <a:p xmlns:a="http://schemas.openxmlformats.org/drawingml/2006/main">
            <a:r>
              <a:rPr lang="en-US" sz="1300">
                <a:solidFill>
                  <a:srgbClr val="FCA5A5"/>
                </a:solidFill>
              </a:rPr>
              <a:t>Minimal, targeted</a:t>
            </a:r>
          </a:p>
        </p:txBody>
      </p:sp>
      <p:sp>
        <p:nvSpPr>
          <p:cNvPr id="100030" name="T2Gate"/>
          <p:cNvSpPr txBox="1"/>
          <p:nvPr/>
        </p:nvSpPr>
        <p:spPr>
          <a:xfrm xmlns:a="http://schemas.openxmlformats.org/drawingml/2006/main">
            <a:off x="8316000" y="5076000"/>
            <a:ext cx="342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64748B"/>
                </a:solidFill>
              </a:rPr>
              <a:t>Court / magistrate order + TWO distinct approvers</a:t>
            </a:r>
          </a:p>
        </p:txBody>
      </p:sp>
      <p:sp>
        <p:nvSpPr>
          <p:cNvPr id="100031" name="Never"/>
          <p:cNvSpPr txBox="1"/>
          <p:nvPr/>
        </p:nvSpPr>
        <p:spPr>
          <a:xfrm xmlns:a="http://schemas.openxmlformats.org/drawingml/2006/main">
            <a:off x="540000" y="5580000"/>
            <a:ext cx="10800000" cy="324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b="1">
                <a:solidFill>
                  <a:srgbClr val="F87171"/>
                </a:solidFill>
              </a:rPr>
              <a:t>NEVER SHARED:  Phone · Email · IP/Device · DMs · Social graph · Posts outside flagged clusters</a:t>
            </a:r>
          </a:p>
        </p:txBody>
      </p:sp>
    </p:spTree>
  </p:cSld>
</p:sld>
</file>

<file path=ppt/slides/slide5.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p:sp>
        <p:nvSpPr>
          <p:cNvPr id="100032" name="SlideNum"/>
          <p:cNvSpPr txBox="1"/>
          <p:nvPr/>
        </p:nvSpPr>
        <p:spPr>
          <a:xfrm xmlns:a="http://schemas.openxmlformats.org/drawingml/2006/main">
            <a:off x="10800000" y="180000"/>
            <a:ext cx="9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3B82F6"/>
                </a:solidFill>
              </a:rPr>
              <a:t>04</a:t>
            </a:r>
          </a:p>
        </p:txBody>
      </p:sp>
      <p:sp>
        <p:nvSpPr>
          <p:cNvPr id="100033" name="Title"/>
          <p:cNvSpPr txBox="1"/>
          <p:nvPr/>
        </p:nvSpPr>
        <p:spPr>
          <a:xfrm xmlns:a="http://schemas.openxmlformats.org/drawingml/2006/main">
            <a:off x="540000" y="360000"/>
            <a:ext cx="1008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FFFFFF"/>
                </a:solidFill>
              </a:rPr>
              <a:t>Use Case: Communal Riot Prevention</a:t>
            </a:r>
          </a:p>
        </p:txBody>
      </p:sp>
      <p:sp>
        <p:nvSpPr>
          <p:cNvPr id="100034" name="Sub"/>
          <p:cNvSpPr txBox="1"/>
          <p:nvPr/>
        </p:nvSpPr>
        <p:spPr>
          <a:xfrm xmlns:a="http://schemas.openxmlformats.org/drawingml/2006/main">
            <a:off x="540000" y="1008000"/>
            <a:ext cx="108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500">
                <a:solidFill>
                  <a:srgbClr val="94A3B8"/>
                </a:solidFill>
              </a:rPr>
              <a:t>Real-world scenario walkthrough — from social media post to officer action in under 90 minutes</a:t>
            </a:r>
          </a:p>
        </p:txBody>
      </p:sp>
      <p:sp>
        <p:nvSpPr>
          <p:cNvPr id="100035" name="ScenarioBox"/>
          <p:cNvSpPr txBox="1"/>
          <p:nvPr/>
        </p:nvSpPr>
        <p:spPr>
          <a:xfrm xmlns:a="http://schemas.openxmlformats.org/drawingml/2006/main">
            <a:off x="540000" y="1368000"/>
            <a:ext cx="10800000" cy="1152000"/>
          </a:xfrm>
          <a:prstGeom xmlns:a="http://schemas.openxmlformats.org/drawingml/2006/main" prst="rect">
            <a:avLst/>
          </a:prstGeom>
          <a:solidFill xmlns:a="http://schemas.openxmlformats.org/drawingml/2006/main">
            <a:srgbClr val="1C1500"/>
          </a:solidFill>
        </p:spPr>
        <p:txBody>
          <a:bodyPr xmlns:a="http://schemas.openxmlformats.org/drawingml/2006/main"/>
          <a:lstStyle xmlns:a="http://schemas.openxmlformats.org/drawingml/2006/main"/>
          <a:p xmlns:a="http://schemas.openxmlformats.org/drawingml/2006/main">
            <a:r>
              <a:rPr lang="en-US" sz="1500">
                <a:solidFill>
                  <a:srgbClr val="FEF3C7"/>
                </a:solidFill>
              </a:rPr>
              <a:t>SCENARIO</a:t>
            </a:r>
          </a:p>
          <a:p xmlns:a="http://schemas.openxmlformats.org/drawingml/2006/main">
            <a:r>
              <a:rPr lang="en-US" sz="1500">
                <a:solidFill>
                  <a:srgbClr val="FEF3C7"/>
                </a:solidFill>
              </a:rPr>
              <a:t/>
            </a:r>
          </a:p>
          <a:p xmlns:a="http://schemas.openxmlformats.org/drawingml/2006/main">
            <a:r>
              <a:rPr lang="en-US" sz="1500">
                <a:solidFill>
                  <a:srgbClr val="FEF3C7"/>
                </a:solidFill>
              </a:rPr>
              <a:t>Friday, 12:47 PM. A coordinated cluster of 47 accounts begins posting near-identical incitement content calling for armed gathering near a mosque — bursting 312 posts in 18 minutes. Hashtags #GatherNow and #ArmYourself trend locally. All accounts are under 90 days old.</a:t>
            </a:r>
          </a:p>
        </p:txBody>
      </p:sp>
      <p:sp>
        <p:nvSpPr>
          <p:cNvPr id="100036" name="Step1"/>
          <p:cNvSpPr txBox="1"/>
          <p:nvPr/>
        </p:nvSpPr>
        <p:spPr>
          <a:xfrm xmlns:a="http://schemas.openxmlformats.org/drawingml/2006/main">
            <a:off x="540000" y="2628000"/>
            <a:ext cx="5148000" cy="126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r>
              <a:rPr lang="en-US" sz="1300">
                <a:solidFill>
                  <a:srgbClr val="CBD5E1"/>
                </a:solidFill>
              </a:rPr>
              <a:t>T+0 min</a:t>
            </a:r>
          </a:p>
          <a:p xmlns:a="http://schemas.openxmlformats.org/drawingml/2006/main">
            <a:r>
              <a:rPr lang="en-US" sz="1300">
                <a:solidFill>
                  <a:srgbClr val="CBD5E1"/>
                </a:solidFill>
              </a:rPr>
              <a:t>TitanSafe detects CIB cluster inside platform boundary. CIB score: 0.87 (CRITICAL). ZK proof: ≥40 accounts. Merkle root anchored. BNS sections mapped: 152A, 153A, 505.</a:t>
            </a:r>
          </a:p>
        </p:txBody>
      </p:sp>
      <p:sp>
        <p:nvSpPr>
          <p:cNvPr id="100037" name="Step2"/>
          <p:cNvSpPr txBox="1"/>
          <p:nvPr/>
        </p:nvSpPr>
        <p:spPr>
          <a:xfrm xmlns:a="http://schemas.openxmlformats.org/drawingml/2006/main">
            <a:off x="6192000" y="2628000"/>
            <a:ext cx="5148000" cy="126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r>
              <a:rPr lang="en-US" sz="1300">
                <a:solidFill>
                  <a:srgbClr val="CBD5E1"/>
                </a:solidFill>
              </a:rPr>
              <a:t>T+3 min</a:t>
            </a:r>
          </a:p>
          <a:p xmlns:a="http://schemas.openxmlformats.org/drawingml/2006/main">
            <a:r>
              <a:rPr lang="en-US" sz="1300">
                <a:solidFill>
                  <a:srgbClr val="CBD5E1"/>
                </a:solidFill>
              </a:rPr>
              <a:t>T0 signal (no personal data) sent to State Cyber Cell. Officer reviews: threat type INCITEMENT, severity CRITICAL, 47-account cluster, key phrases confirmed. Requests Tier 1.</a:t>
            </a:r>
          </a:p>
        </p:txBody>
      </p:sp>
      <p:sp>
        <p:nvSpPr>
          <p:cNvPr id="100038" name="Step3"/>
          <p:cNvSpPr txBox="1"/>
          <p:nvPr/>
        </p:nvSpPr>
        <p:spPr>
          <a:xfrm xmlns:a="http://schemas.openxmlformats.org/drawingml/2006/main">
            <a:off x="540000" y="3996000"/>
            <a:ext cx="5148000" cy="126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r>
              <a:rPr lang="en-US" sz="1300">
                <a:solidFill>
                  <a:srgbClr val="CBD5E1"/>
                </a:solidFill>
              </a:rPr>
              <a:t>T+8 min</a:t>
            </a:r>
          </a:p>
          <a:p xmlns:a="http://schemas.openxmlformats.org/drawingml/2006/main">
            <a:r>
              <a:rPr lang="en-US" sz="1300">
                <a:solidFill>
                  <a:srgbClr val="CBD5E1"/>
                </a:solidFill>
              </a:rPr>
              <a:t>Nodal officer approves T1. Platform releases pseudonymous evidence: 25 redacted posts, age bands (18–25), follower bands (&lt;100), Merkle inclusion proofs. No real names.</a:t>
            </a:r>
          </a:p>
        </p:txBody>
      </p:sp>
      <p:sp>
        <p:nvSpPr>
          <p:cNvPr id="100039" name="Step4"/>
          <p:cNvSpPr txBox="1"/>
          <p:nvPr/>
        </p:nvSpPr>
        <p:spPr>
          <a:xfrm xmlns:a="http://schemas.openxmlformats.org/drawingml/2006/main">
            <a:off x="6192000" y="3996000"/>
            <a:ext cx="5148000" cy="126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r>
              <a:rPr lang="en-US" sz="1300">
                <a:solidFill>
                  <a:srgbClr val="CBD5E1"/>
                </a:solidFill>
              </a:rPr>
              <a:t>T+25 min</a:t>
            </a:r>
          </a:p>
          <a:p xmlns:a="http://schemas.openxmlformats.org/drawingml/2006/main">
            <a:r>
              <a:rPr lang="en-US" sz="1300">
                <a:solidFill>
                  <a:srgbClr val="CBD5E1"/>
                </a:solidFill>
              </a:rPr>
              <a:t>Magistrate order issued for 3 ring-leaders. T2 reveal: user IDs, handles, and region codes — cryptographically bound to T1 pseudonyms. Officers deploy to location.</a:t>
            </a:r>
          </a:p>
        </p:txBody>
      </p:sp>
      <p:sp>
        <p:nvSpPr>
          <p:cNvPr id="100040" name="Outcome"/>
          <p:cNvSpPr txBox="1"/>
          <p:nvPr/>
        </p:nvSpPr>
        <p:spPr>
          <a:xfrm xmlns:a="http://schemas.openxmlformats.org/drawingml/2006/main">
            <a:off x="540000" y="5364000"/>
            <a:ext cx="10800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b="1">
                <a:solidFill>
                  <a:srgbClr val="86EFAC"/>
                </a:solidFill>
              </a:rPr>
              <a:t>Outcome: Coordinated offline gathering prevented. 44 uninvolved users' data was never accessed. Full cryptographic audit trail preserved for court.</a:t>
            </a:r>
          </a:p>
        </p:txBody>
      </p:sp>
    </p:spTree>
  </p:cSld>
</p:sld>
</file>

<file path=ppt/slides/slide6.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p:sp>
        <p:nvSpPr>
          <p:cNvPr id="100041" name="SlideNum"/>
          <p:cNvSpPr txBox="1"/>
          <p:nvPr/>
        </p:nvSpPr>
        <p:spPr>
          <a:xfrm xmlns:a="http://schemas.openxmlformats.org/drawingml/2006/main">
            <a:off x="10800000" y="180000"/>
            <a:ext cx="9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3B82F6"/>
                </a:solidFill>
              </a:rPr>
              <a:t>05</a:t>
            </a:r>
          </a:p>
        </p:txBody>
      </p:sp>
      <p:sp>
        <p:nvSpPr>
          <p:cNvPr id="100042" name="Title"/>
          <p:cNvSpPr txBox="1"/>
          <p:nvPr/>
        </p:nvSpPr>
        <p:spPr>
          <a:xfrm xmlns:a="http://schemas.openxmlformats.org/drawingml/2006/main">
            <a:off x="540000" y="360000"/>
            <a:ext cx="1008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FFFFFF"/>
                </a:solidFill>
              </a:rPr>
              <a:t>How It Works: Technical Architecture</a:t>
            </a:r>
          </a:p>
        </p:txBody>
      </p:sp>
      <p:sp>
        <p:nvSpPr>
          <p:cNvPr id="100043" name="PlatformBox"/>
          <p:cNvSpPr txBox="1"/>
          <p:nvPr/>
        </p:nvSpPr>
        <p:spPr>
          <a:xfrm xmlns:a="http://schemas.openxmlformats.org/drawingml/2006/main">
            <a:off x="540000" y="1152000"/>
            <a:ext cx="10800000" cy="144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r>
              <a:rPr lang="en-US" sz="1400">
                <a:solidFill>
                  <a:srgbClr val="93C5FD"/>
                </a:solidFill>
              </a:rPr>
              <a:t>PLATFORM TRUST BOUNDARY  (raw data never leaves)</a:t>
            </a:r>
          </a:p>
          <a:p xmlns:a="http://schemas.openxmlformats.org/drawingml/2006/main">
            <a:r>
              <a:rPr lang="en-US" sz="1400">
                <a:solidFill>
                  <a:srgbClr val="93C5FD"/>
                </a:solidFill>
              </a:rPr>
              <a:t/>
            </a:r>
          </a:p>
          <a:p xmlns:a="http://schemas.openxmlformats.org/drawingml/2006/main">
            <a:r>
              <a:rPr lang="en-US" sz="1400">
                <a:solidFill>
                  <a:srgbClr val="93C5FD"/>
                </a:solidFill>
              </a:rPr>
              <a:t>  detect.py  →  CIB clustering: burst timing · text similarity · account youth · hashtag sync · low reach</a:t>
            </a:r>
          </a:p>
          <a:p xmlns:a="http://schemas.openxmlformats.org/drawingml/2006/main">
            <a:r>
              <a:rPr lang="en-US" sz="1400">
                <a:solidFill>
                  <a:srgbClr val="93C5FD"/>
                </a:solidFill>
              </a:rPr>
              <a:t>  classify.py  →  Threat type: INCITEMENT / TARGETED HARASSMENT / ORGANISED MISINFORMATION</a:t>
            </a:r>
          </a:p>
          <a:p xmlns:a="http://schemas.openxmlformats.org/drawingml/2006/main">
            <a:r>
              <a:rPr lang="en-US" sz="1400">
                <a:solidFill>
                  <a:srgbClr val="93C5FD"/>
                </a:solidFill>
              </a:rPr>
              <a:t>  abstraction.py Vault  →  Pedersen commitments · Schnorr ZK range proofs · Sorted Merkle tree · HMAC pseudonyms</a:t>
            </a:r>
          </a:p>
        </p:txBody>
      </p:sp>
      <p:sp>
        <p:nvSpPr>
          <p:cNvPr id="100044" name="PolicyBox"/>
          <p:cNvSpPr txBox="1"/>
          <p:nvPr/>
        </p:nvSpPr>
        <p:spPr>
          <a:xfrm xmlns:a="http://schemas.openxmlformats.org/drawingml/2006/main">
            <a:off x="540000" y="2700000"/>
            <a:ext cx="5040000" cy="1080000"/>
          </a:xfrm>
          <a:prstGeom xmlns:a="http://schemas.openxmlformats.org/drawingml/2006/main" prst="rect">
            <a:avLst/>
          </a:prstGeom>
          <a:solidFill xmlns:a="http://schemas.openxmlformats.org/drawingml/2006/main">
            <a:srgbClr val="1A1400"/>
          </a:solidFill>
        </p:spPr>
        <p:txBody>
          <a:bodyPr xmlns:a="http://schemas.openxmlformats.org/drawingml/2006/main"/>
          <a:lstStyle xmlns:a="http://schemas.openxmlformats.org/drawingml/2006/main"/>
          <a:p xmlns:a="http://schemas.openxmlformats.org/drawingml/2006/main">
            <a:r>
              <a:rPr lang="en-US" sz="1400">
                <a:solidFill>
                  <a:srgbClr val="FDE68A"/>
                </a:solidFill>
              </a:rPr>
              <a:t>policy.py  — DPDP-aligned gate checks</a:t>
            </a:r>
          </a:p>
          <a:p xmlns:a="http://schemas.openxmlformats.org/drawingml/2006/main">
            <a:r>
              <a:rPr lang="en-US" sz="1400">
                <a:solidFill>
                  <a:srgbClr val="FDE68A"/>
                </a:solidFill>
              </a:rPr>
              <a:t>Evaluates: purpose statement · legal basis · nodal-officer approval · court order</a:t>
            </a:r>
          </a:p>
          <a:p xmlns:a="http://schemas.openxmlformats.org/drawingml/2006/main">
            <a:r>
              <a:rPr lang="en-US" sz="1400">
                <a:solidFill>
                  <a:srgbClr val="FDE68A"/>
                </a:solidFill>
              </a:rPr>
              <a:t>Logs every decision to tamper-evident audit chain</a:t>
            </a:r>
          </a:p>
        </p:txBody>
      </p:sp>
      <p:sp>
        <p:nvSpPr>
          <p:cNvPr id="100045" name="AuditBox"/>
          <p:cNvSpPr txBox="1"/>
          <p:nvPr/>
        </p:nvSpPr>
        <p:spPr>
          <a:xfrm xmlns:a="http://schemas.openxmlformats.org/drawingml/2006/main">
            <a:off x="6300000" y="2700000"/>
            <a:ext cx="5040000" cy="1080000"/>
          </a:xfrm>
          <a:prstGeom xmlns:a="http://schemas.openxmlformats.org/drawingml/2006/main" prst="rect">
            <a:avLst/>
          </a:prstGeom>
          <a:solidFill xmlns:a="http://schemas.openxmlformats.org/drawingml/2006/main">
            <a:srgbClr val="1A1400"/>
          </a:solidFill>
        </p:spPr>
        <p:txBody>
          <a:bodyPr xmlns:a="http://schemas.openxmlformats.org/drawingml/2006/main"/>
          <a:lstStyle xmlns:a="http://schemas.openxmlformats.org/drawingml/2006/main"/>
          <a:p xmlns:a="http://schemas.openxmlformats.org/drawingml/2006/main">
            <a:r>
              <a:rPr lang="en-US" sz="1400">
                <a:solidFill>
                  <a:srgbClr val="FDE68A"/>
                </a:solidFill>
              </a:rPr>
              <a:t>audit.py  — SHA-256 Hash Chain</a:t>
            </a:r>
          </a:p>
          <a:p xmlns:a="http://schemas.openxmlformats.org/drawingml/2006/main">
            <a:r>
              <a:rPr lang="en-US" sz="1400">
                <a:solidFill>
                  <a:srgbClr val="FDE68A"/>
                </a:solidFill>
              </a:rPr>
              <a:t>Every request, denial, approval, and disclosure</a:t>
            </a:r>
          </a:p>
          <a:p xmlns:a="http://schemas.openxmlformats.org/drawingml/2006/main">
            <a:r>
              <a:rPr lang="en-US" sz="1400">
                <a:solidFill>
                  <a:srgbClr val="FDE68A"/>
                </a:solidFill>
              </a:rPr>
              <a:t>chained and independently verifiable by LEA</a:t>
            </a:r>
          </a:p>
        </p:txBody>
      </p:sp>
      <p:sp>
        <p:nvSpPr>
          <p:cNvPr id="100046" name="LEABox"/>
          <p:cNvSpPr txBox="1"/>
          <p:nvPr/>
        </p:nvSpPr>
        <p:spPr>
          <a:xfrm xmlns:a="http://schemas.openxmlformats.org/drawingml/2006/main">
            <a:off x="540000" y="3960000"/>
            <a:ext cx="10800000" cy="1368000"/>
          </a:xfrm>
          <a:prstGeom xmlns:a="http://schemas.openxmlformats.org/drawingml/2006/main" prst="rect">
            <a:avLst/>
          </a:prstGeom>
          <a:solidFill xmlns:a="http://schemas.openxmlformats.org/drawingml/2006/main">
            <a:srgbClr val="0A2018"/>
          </a:solidFill>
        </p:spPr>
        <p:txBody>
          <a:bodyPr xmlns:a="http://schemas.openxmlformats.org/drawingml/2006/main"/>
          <a:lstStyle xmlns:a="http://schemas.openxmlformats.org/drawingml/2006/main"/>
          <a:p xmlns:a="http://schemas.openxmlformats.org/drawingml/2006/main">
            <a:r>
              <a:rPr lang="en-US" sz="1400">
                <a:solidFill>
                  <a:srgbClr val="86EFAC"/>
                </a:solidFill>
              </a:rPr>
              <a:t>LEA VIEW  (no vault access)</a:t>
            </a:r>
          </a:p>
          <a:p xmlns:a="http://schemas.openxmlformats.org/drawingml/2006/main">
            <a:r>
              <a:rPr lang="en-US" sz="1400">
                <a:solidFill>
                  <a:srgbClr val="86EFAC"/>
                </a:solidFill>
              </a:rPr>
              <a:t/>
            </a:r>
          </a:p>
          <a:p xmlns:a="http://schemas.openxmlformats.org/drawingml/2006/main">
            <a:r>
              <a:rPr lang="en-US" sz="1400">
                <a:solidFill>
                  <a:srgbClr val="86EFAC"/>
                </a:solidFill>
              </a:rPr>
              <a:t>  legal.py  →  IPC/BNS legal section mapping</a:t>
            </a:r>
          </a:p>
          <a:p xmlns:a="http://schemas.openxmlformats.org/drawingml/2006/main">
            <a:r>
              <a:rPr lang="en-US" sz="1400">
                <a:solidFill>
                  <a:srgbClr val="86EFAC"/>
                </a:solidFill>
              </a:rPr>
              <a:t>  brief.py  →  Threat brief for the officer</a:t>
            </a:r>
          </a:p>
          <a:p xmlns:a="http://schemas.openxmlformats.org/drawingml/2006/main">
            <a:r>
              <a:rPr lang="en-US" sz="1400">
                <a:solidFill>
                  <a:srgbClr val="86EFAC"/>
                </a:solidFill>
              </a:rPr>
              <a:t>  dashboard.html  →  Full scrollable intelligence dashboard</a:t>
            </a:r>
          </a:p>
          <a:p xmlns:a="http://schemas.openxmlformats.org/drawingml/2006/main">
            <a:r>
              <a:rPr lang="en-US" sz="1400">
                <a:solidFill>
                  <a:srgbClr val="86EFAC"/>
                </a:solidFill>
              </a:rPr>
              <a:t>  pdf.py  →  Print-ready A4 report for court submission</a:t>
            </a:r>
          </a:p>
        </p:txBody>
      </p:sp>
      <p:sp>
        <p:nvSpPr>
          <p:cNvPr id="100047" name="Flow"/>
          <p:cNvSpPr txBox="1"/>
          <p:nvPr/>
        </p:nvSpPr>
        <p:spPr>
          <a:xfrm xmlns:a="http://schemas.openxmlformats.org/drawingml/2006/main">
            <a:off x="540000" y="5400000"/>
            <a:ext cx="108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200">
                <a:solidFill>
                  <a:srgbClr val="475569"/>
                </a:solidFill>
              </a:rPr>
              <a:t>T0 ZK proofs  ↓  T1 pseudonymous evidence  ↓  T2 identity reveal  —  each gated by policy.py</a:t>
            </a:r>
          </a:p>
        </p:txBody>
      </p:sp>
    </p:spTree>
  </p:cSld>
</p:sld>
</file>

<file path=ppt/slides/slide7.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p:sp>
        <p:nvSpPr>
          <p:cNvPr id="100048" name="SlideNum"/>
          <p:cNvSpPr txBox="1"/>
          <p:nvPr/>
        </p:nvSpPr>
        <p:spPr>
          <a:xfrm xmlns:a="http://schemas.openxmlformats.org/drawingml/2006/main">
            <a:off x="10800000" y="180000"/>
            <a:ext cx="9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3B82F6"/>
                </a:solidFill>
              </a:rPr>
              <a:t>06</a:t>
            </a:r>
          </a:p>
        </p:txBody>
      </p:sp>
      <p:sp>
        <p:nvSpPr>
          <p:cNvPr id="100049" name="Title"/>
          <p:cNvSpPr txBox="1"/>
          <p:nvPr/>
        </p:nvSpPr>
        <p:spPr>
          <a:xfrm xmlns:a="http://schemas.openxmlformats.org/drawingml/2006/main">
            <a:off x="540000" y="360000"/>
            <a:ext cx="1008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FFFFFF"/>
                </a:solidFill>
              </a:rPr>
              <a:t>Cryptographic Guarantees</a:t>
            </a:r>
          </a:p>
        </p:txBody>
      </p:sp>
      <p:sp>
        <p:nvSpPr>
          <p:cNvPr id="100050" name="Sub"/>
          <p:cNvSpPr txBox="1"/>
          <p:nvPr/>
        </p:nvSpPr>
        <p:spPr>
          <a:xfrm xmlns:a="http://schemas.openxmlformats.org/drawingml/2006/main">
            <a:off x="540000" y="1008000"/>
            <a:ext cx="1008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600">
                <a:solidFill>
                  <a:srgbClr val="3B82F6"/>
                </a:solidFill>
              </a:rPr>
              <a:t>Not just the platform's word — mathematical proof at every step</a:t>
            </a:r>
          </a:p>
        </p:txBody>
      </p:sp>
      <p:sp>
        <p:nvSpPr>
          <p:cNvPr id="100051" name="C1"/>
          <p:cNvSpPr txBox="1"/>
          <p:nvPr/>
        </p:nvSpPr>
        <p:spPr>
          <a:xfrm xmlns:a="http://schemas.openxmlformats.org/drawingml/2006/main">
            <a:off x="540000" y="1440000"/>
            <a:ext cx="5040000" cy="1512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r>
              <a:rPr lang="en-US" sz="1400">
                <a:solidFill>
                  <a:srgbClr val="CBD5E1"/>
                </a:solidFill>
              </a:rPr>
              <a:t>Pedersen Commitments</a:t>
            </a:r>
          </a:p>
          <a:p xmlns:a="http://schemas.openxmlformats.org/drawingml/2006/main">
            <a:r>
              <a:rPr lang="en-US" sz="1400">
                <a:solidFill>
                  <a:srgbClr val="CBD5E1"/>
                </a:solidFill>
              </a:rPr>
              <a:t/>
            </a:r>
          </a:p>
          <a:p xmlns:a="http://schemas.openxmlformats.org/drawingml/2006/main">
            <a:r>
              <a:rPr lang="en-US" sz="1400">
                <a:solidFill>
                  <a:srgbClr val="CBD5E1"/>
                </a:solidFill>
              </a:rPr>
              <a:t>Each cluster's account count is committed as a hiding, binding Pedersen commitment. The platform proves ≥k accounts without revealing the exact count.</a:t>
            </a:r>
          </a:p>
        </p:txBody>
      </p:sp>
      <p:sp>
        <p:nvSpPr>
          <p:cNvPr id="100052" name="C2"/>
          <p:cNvSpPr txBox="1"/>
          <p:nvPr/>
        </p:nvSpPr>
        <p:spPr>
          <a:xfrm xmlns:a="http://schemas.openxmlformats.org/drawingml/2006/main">
            <a:off x="6300000" y="1440000"/>
            <a:ext cx="5040000" cy="1512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r>
              <a:rPr lang="en-US" sz="1400">
                <a:solidFill>
                  <a:srgbClr val="CBD5E1"/>
                </a:solidFill>
              </a:rPr>
              <a:t>Schnorr ZK Range Proofs</a:t>
            </a:r>
          </a:p>
          <a:p xmlns:a="http://schemas.openxmlformats.org/drawingml/2006/main">
            <a:r>
              <a:rPr lang="en-US" sz="1400">
                <a:solidFill>
                  <a:srgbClr val="CBD5E1"/>
                </a:solidFill>
              </a:rPr>
              <a:t/>
            </a:r>
          </a:p>
          <a:p xmlns:a="http://schemas.openxmlformats.org/drawingml/2006/main">
            <a:r>
              <a:rPr lang="en-US" sz="1400">
                <a:solidFill>
                  <a:srgbClr val="CBD5E1"/>
                </a:solidFill>
              </a:rPr>
              <a:t>Four thresholds: ≥5, ≥10, ≥20, ≥40. Each is a zero-knowledge proof — the LEA can verify the claim with no platform cooperation.</a:t>
            </a:r>
          </a:p>
        </p:txBody>
      </p:sp>
      <p:sp>
        <p:nvSpPr>
          <p:cNvPr id="100053" name="C3"/>
          <p:cNvSpPr txBox="1"/>
          <p:nvPr/>
        </p:nvSpPr>
        <p:spPr>
          <a:xfrm xmlns:a="http://schemas.openxmlformats.org/drawingml/2006/main">
            <a:off x="540000" y="3132000"/>
            <a:ext cx="5040000" cy="1512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r>
              <a:rPr lang="en-US" sz="1400">
                <a:solidFill>
                  <a:srgbClr val="CBD5E1"/>
                </a:solidFill>
              </a:rPr>
              <a:t>Sorted Merkle Tree</a:t>
            </a:r>
          </a:p>
          <a:p xmlns:a="http://schemas.openxmlformats.org/drawingml/2006/main">
            <a:r>
              <a:rPr lang="en-US" sz="1400">
                <a:solidFill>
                  <a:srgbClr val="CBD5E1"/>
                </a:solidFill>
              </a:rPr>
              <a:t/>
            </a:r>
          </a:p>
          <a:p xmlns:a="http://schemas.openxmlformats.org/drawingml/2006/main">
            <a:r>
              <a:rPr lang="en-US" sz="1400">
                <a:solidFill>
                  <a:srgbClr val="CBD5E1"/>
                </a:solidFill>
              </a:rPr>
              <a:t>Every post is a leaf: hash(identity_commitment, post_id, salt). Root published at T0. T1 posts verified against root. T2 identity cryptographically bound to T1 leaf.</a:t>
            </a:r>
          </a:p>
        </p:txBody>
      </p:sp>
      <p:sp>
        <p:nvSpPr>
          <p:cNvPr id="100054" name="C4"/>
          <p:cNvSpPr txBox="1"/>
          <p:nvPr/>
        </p:nvSpPr>
        <p:spPr>
          <a:xfrm xmlns:a="http://schemas.openxmlformats.org/drawingml/2006/main">
            <a:off x="6300000" y="3132000"/>
            <a:ext cx="5040000" cy="1512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r>
              <a:rPr lang="en-US" sz="1400">
                <a:solidFill>
                  <a:srgbClr val="CBD5E1"/>
                </a:solidFill>
              </a:rPr>
              <a:t>Per-Case HMAC Pseudonyms</a:t>
            </a:r>
          </a:p>
          <a:p xmlns:a="http://schemas.openxmlformats.org/drawingml/2006/main">
            <a:r>
              <a:rPr lang="en-US" sz="1400">
                <a:solidFill>
                  <a:srgbClr val="CBD5E1"/>
                </a:solidFill>
              </a:rPr>
              <a:t/>
            </a:r>
          </a:p>
          <a:p xmlns:a="http://schemas.openxmlformats.org/drawingml/2006/main">
            <a:r>
              <a:rPr lang="en-US" sz="1400">
                <a:solidFill>
                  <a:srgbClr val="CBD5E1"/>
                </a:solidFill>
              </a:rPr>
              <a:t>HMAC(case_key, case_id:user_id). Same user looks completely different in every case — no cross-case identity linking, even if LEA has multiple case files.</a:t>
            </a:r>
          </a:p>
        </p:txBody>
      </p:sp>
      <p:sp>
        <p:nvSpPr>
          <p:cNvPr id="100055" name="C5"/>
          <p:cNvSpPr txBox="1"/>
          <p:nvPr/>
        </p:nvSpPr>
        <p:spPr>
          <a:xfrm xmlns:a="http://schemas.openxmlformats.org/drawingml/2006/main">
            <a:off x="540000" y="4824000"/>
            <a:ext cx="10800000" cy="720000"/>
          </a:xfrm>
          <a:prstGeom xmlns:a="http://schemas.openxmlformats.org/drawingml/2006/main" prst="rect">
            <a:avLst/>
          </a:prstGeom>
          <a:solidFill xmlns:a="http://schemas.openxmlformats.org/drawingml/2006/main">
            <a:srgbClr val="1A1400"/>
          </a:solidFill>
        </p:spPr>
        <p:txBody>
          <a:bodyPr xmlns:a="http://schemas.openxmlformats.org/drawingml/2006/main"/>
          <a:lstStyle xmlns:a="http://schemas.openxmlformats.org/drawingml/2006/main"/>
          <a:p xmlns:a="http://schemas.openxmlformats.org/drawingml/2006/main">
            <a:r>
              <a:rPr lang="en-US" sz="1400">
                <a:solidFill>
                  <a:srgbClr val="FDE68A"/>
                </a:solidFill>
              </a:rPr>
              <a:t>SHA-256 Tamper-Evident Audit Chain — every request, denial, approval and disclosure is hash-chained. The LEA can verify the entire audit trail without any platform cooperation, at any time.</a:t>
            </a:r>
          </a:p>
        </p:txBody>
      </p:sp>
    </p:spTree>
  </p:cSld>
</p:sld>
</file>

<file path=ppt/slides/slide8.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p:sp>
        <p:nvSpPr>
          <p:cNvPr id="100056" name="SlideNum"/>
          <p:cNvSpPr txBox="1"/>
          <p:nvPr/>
        </p:nvSpPr>
        <p:spPr>
          <a:xfrm xmlns:a="http://schemas.openxmlformats.org/drawingml/2006/main">
            <a:off x="10800000" y="180000"/>
            <a:ext cx="9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3B82F6"/>
                </a:solidFill>
              </a:rPr>
              <a:t>07</a:t>
            </a:r>
          </a:p>
        </p:txBody>
      </p:sp>
      <p:sp>
        <p:nvSpPr>
          <p:cNvPr id="100057" name="Title"/>
          <p:cNvSpPr txBox="1"/>
          <p:nvPr/>
        </p:nvSpPr>
        <p:spPr>
          <a:xfrm xmlns:a="http://schemas.openxmlformats.org/drawingml/2006/main">
            <a:off x="540000" y="360000"/>
            <a:ext cx="1008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FFFFFF"/>
                </a:solidFill>
              </a:rPr>
              <a:t>Datasets &amp; Threat Scenarios Covered</a:t>
            </a:r>
          </a:p>
        </p:txBody>
      </p:sp>
      <p:sp>
        <p:nvSpPr>
          <p:cNvPr id="100058" name="Sub"/>
          <p:cNvSpPr txBox="1"/>
          <p:nvPr/>
        </p:nvSpPr>
        <p:spPr>
          <a:xfrm xmlns:a="http://schemas.openxmlformats.org/drawingml/2006/main">
            <a:off x="540000" y="1008000"/>
            <a:ext cx="108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500">
                <a:solidFill>
                  <a:srgbClr val="94A3B8"/>
                </a:solidFill>
              </a:rPr>
              <a:t>Seven realistic mock datasets · 1,000+ unique accounts each · Organic false-positive traps built in</a:t>
            </a:r>
          </a:p>
        </p:txBody>
      </p:sp>
      <p:sp>
        <p:nvSpPr>
          <p:cNvPr id="100059" name="D1"/>
          <p:cNvSpPr txBox="1"/>
          <p:nvPr/>
        </p:nvSpPr>
        <p:spPr>
          <a:xfrm xmlns:a="http://schemas.openxmlformats.org/drawingml/2006/main">
            <a:off x="540000" y="1440000"/>
            <a:ext cx="3240000" cy="1260000"/>
          </a:xfrm>
          <a:prstGeom xmlns:a="http://schemas.openxmlformats.org/drawingml/2006/main" prst="rect">
            <a:avLst/>
          </a:prstGeom>
          <a:solidFill xmlns:a="http://schemas.openxmlformats.org/drawingml/2006/main">
            <a:srgbClr val="0F1A2E"/>
          </a:solidFill>
        </p:spPr>
        <p:txBody>
          <a:bodyPr xmlns:a="http://schemas.openxmlformats.org/drawingml/2006/main"/>
          <a:lstStyle xmlns:a="http://schemas.openxmlformats.org/drawingml/2006/main"/>
          <a:p xmlns:a="http://schemas.openxmlformats.org/drawingml/2006/main">
            <a:r>
              <a:rPr lang="en-US" sz="1300">
                <a:solidFill>
                  <a:srgbClr val="CBD5E1"/>
                </a:solidFill>
              </a:rPr>
              <a:t>default</a:t>
            </a:r>
          </a:p>
          <a:p xmlns:a="http://schemas.openxmlformats.org/drawingml/2006/main">
            <a:r>
              <a:rPr lang="en-US" sz="1300">
                <a:solidFill>
                  <a:srgbClr val="CBD5E1"/>
                </a:solidFill>
              </a:rPr>
              <a:t>1,035 users</a:t>
            </a:r>
          </a:p>
          <a:p xmlns:a="http://schemas.openxmlformats.org/drawingml/2006/main">
            <a:r>
              <a:rPr lang="en-US" sz="1300">
                <a:solidFill>
                  <a:srgbClr val="CBD5E1"/>
                </a:solidFill>
              </a:rPr>
              <a:t>Incitement + journalist harassment + health misinfo buried in organic cricket chatter</a:t>
            </a:r>
          </a:p>
        </p:txBody>
      </p:sp>
      <p:sp>
        <p:nvSpPr>
          <p:cNvPr id="100060" name="D2"/>
          <p:cNvSpPr txBox="1"/>
          <p:nvPr/>
        </p:nvSpPr>
        <p:spPr>
          <a:xfrm xmlns:a="http://schemas.openxmlformats.org/drawingml/2006/main">
            <a:off x="4320000" y="1440000"/>
            <a:ext cx="3240000" cy="1260000"/>
          </a:xfrm>
          <a:prstGeom xmlns:a="http://schemas.openxmlformats.org/drawingml/2006/main" prst="rect">
            <a:avLst/>
          </a:prstGeom>
          <a:solidFill xmlns:a="http://schemas.openxmlformats.org/drawingml/2006/main">
            <a:srgbClr val="0F1A2E"/>
          </a:solidFill>
        </p:spPr>
        <p:txBody>
          <a:bodyPr xmlns:a="http://schemas.openxmlformats.org/drawingml/2006/main"/>
          <a:lstStyle xmlns:a="http://schemas.openxmlformats.org/drawingml/2006/main"/>
          <a:p xmlns:a="http://schemas.openxmlformats.org/drawingml/2006/main">
            <a:r>
              <a:rPr lang="en-US" sz="1300">
                <a:solidFill>
                  <a:srgbClr val="CBD5E1"/>
                </a:solidFill>
              </a:rPr>
              <a:t>election_disinfo</a:t>
            </a:r>
          </a:p>
          <a:p xmlns:a="http://schemas.openxmlformats.org/drawingml/2006/main">
            <a:r>
              <a:rPr lang="en-US" sz="1300">
                <a:solidFill>
                  <a:srgbClr val="CBD5E1"/>
                </a:solidFill>
              </a:rPr>
              <a:t>1,035 users</a:t>
            </a:r>
          </a:p>
          <a:p xmlns:a="http://schemas.openxmlformats.org/drawingml/2006/main">
            <a:r>
              <a:rPr lang="en-US" sz="1300">
                <a:solidFill>
                  <a:srgbClr val="CBD5E1"/>
                </a:solidFill>
              </a:rPr>
              <a:t>Fake EVM-tampering claims + voter-suppression rumours on polling day</a:t>
            </a:r>
          </a:p>
        </p:txBody>
      </p:sp>
      <p:sp>
        <p:nvSpPr>
          <p:cNvPr id="100061" name="D3"/>
          <p:cNvSpPr txBox="1"/>
          <p:nvPr/>
        </p:nvSpPr>
        <p:spPr>
          <a:xfrm xmlns:a="http://schemas.openxmlformats.org/drawingml/2006/main">
            <a:off x="8100000" y="1440000"/>
            <a:ext cx="3240000" cy="1260000"/>
          </a:xfrm>
          <a:prstGeom xmlns:a="http://schemas.openxmlformats.org/drawingml/2006/main" prst="rect">
            <a:avLst/>
          </a:prstGeom>
          <a:solidFill xmlns:a="http://schemas.openxmlformats.org/drawingml/2006/main">
            <a:srgbClr val="0F1A2E"/>
          </a:solidFill>
        </p:spPr>
        <p:txBody>
          <a:bodyPr xmlns:a="http://schemas.openxmlformats.org/drawingml/2006/main"/>
          <a:lstStyle xmlns:a="http://schemas.openxmlformats.org/drawingml/2006/main"/>
          <a:p xmlns:a="http://schemas.openxmlformats.org/drawingml/2006/main">
            <a:r>
              <a:rPr lang="en-US" sz="1300">
                <a:solidFill>
                  <a:srgbClr val="CBD5E1"/>
                </a:solidFill>
              </a:rPr>
              <a:t>communal_riot</a:t>
            </a:r>
          </a:p>
          <a:p xmlns:a="http://schemas.openxmlformats.org/drawingml/2006/main">
            <a:r>
              <a:rPr lang="en-US" sz="1300">
                <a:solidFill>
                  <a:srgbClr val="CBD5E1"/>
                </a:solidFill>
              </a:rPr>
              <a:t>1,020 users</a:t>
            </a:r>
          </a:p>
          <a:p xmlns:a="http://schemas.openxmlformats.org/drawingml/2006/main">
            <a:r>
              <a:rPr lang="en-US" sz="1300">
                <a:solidFill>
                  <a:srgbClr val="CBD5E1"/>
                </a:solidFill>
              </a:rPr>
              <a:t>Friday afternoon incitement to gather with weapons + communal misinformation</a:t>
            </a:r>
          </a:p>
        </p:txBody>
      </p:sp>
      <p:sp>
        <p:nvSpPr>
          <p:cNvPr id="100062" name="D4"/>
          <p:cNvSpPr txBox="1"/>
          <p:nvPr/>
        </p:nvSpPr>
        <p:spPr>
          <a:xfrm xmlns:a="http://schemas.openxmlformats.org/drawingml/2006/main">
            <a:off x="540000" y="2880000"/>
            <a:ext cx="3240000" cy="1260000"/>
          </a:xfrm>
          <a:prstGeom xmlns:a="http://schemas.openxmlformats.org/drawingml/2006/main" prst="rect">
            <a:avLst/>
          </a:prstGeom>
          <a:solidFill xmlns:a="http://schemas.openxmlformats.org/drawingml/2006/main">
            <a:srgbClr val="0F1A2E"/>
          </a:solidFill>
        </p:spPr>
        <p:txBody>
          <a:bodyPr xmlns:a="http://schemas.openxmlformats.org/drawingml/2006/main"/>
          <a:lstStyle xmlns:a="http://schemas.openxmlformats.org/drawingml/2006/main"/>
          <a:p xmlns:a="http://schemas.openxmlformats.org/drawingml/2006/main">
            <a:r>
              <a:rPr lang="en-US" sz="1300">
                <a:solidFill>
                  <a:srgbClr val="CBD5E1"/>
                </a:solidFill>
              </a:rPr>
              <a:t>journalist_doxxing</a:t>
            </a:r>
          </a:p>
          <a:p xmlns:a="http://schemas.openxmlformats.org/drawingml/2006/main">
            <a:r>
              <a:rPr lang="en-US" sz="1300">
                <a:solidFill>
                  <a:srgbClr val="CBD5E1"/>
                </a:solidFill>
              </a:rPr>
              <a:t>1,015 users</a:t>
            </a:r>
          </a:p>
          <a:p xmlns:a="http://schemas.openxmlformats.org/drawingml/2006/main">
            <a:r>
              <a:rPr lang="en-US" sz="1300">
                <a:solidFill>
                  <a:srgbClr val="CBD5E1"/>
                </a:solidFill>
              </a:rPr>
              <a:t>Targeted doxxing of a freelance journalist — address, phone, brigading campaign</a:t>
            </a:r>
          </a:p>
        </p:txBody>
      </p:sp>
      <p:sp>
        <p:nvSpPr>
          <p:cNvPr id="100063" name="D5"/>
          <p:cNvSpPr txBox="1"/>
          <p:nvPr/>
        </p:nvSpPr>
        <p:spPr>
          <a:xfrm xmlns:a="http://schemas.openxmlformats.org/drawingml/2006/main">
            <a:off x="4320000" y="2880000"/>
            <a:ext cx="3240000" cy="1260000"/>
          </a:xfrm>
          <a:prstGeom xmlns:a="http://schemas.openxmlformats.org/drawingml/2006/main" prst="rect">
            <a:avLst/>
          </a:prstGeom>
          <a:solidFill xmlns:a="http://schemas.openxmlformats.org/drawingml/2006/main">
            <a:srgbClr val="0F1A2E"/>
          </a:solidFill>
        </p:spPr>
        <p:txBody>
          <a:bodyPr xmlns:a="http://schemas.openxmlformats.org/drawingml/2006/main"/>
          <a:lstStyle xmlns:a="http://schemas.openxmlformats.org/drawingml/2006/main"/>
          <a:p xmlns:a="http://schemas.openxmlformats.org/drawingml/2006/main">
            <a:r>
              <a:rPr lang="en-US" sz="1300">
                <a:solidFill>
                  <a:srgbClr val="CBD5E1"/>
                </a:solidFill>
              </a:rPr>
              <a:t>cyberattack_infra</a:t>
            </a:r>
          </a:p>
          <a:p xmlns:a="http://schemas.openxmlformats.org/drawingml/2006/main">
            <a:r>
              <a:rPr lang="en-US" sz="1300">
                <a:solidFill>
                  <a:srgbClr val="CBD5E1"/>
                </a:solidFill>
              </a:rPr>
              <a:t>1,000+ users</a:t>
            </a:r>
          </a:p>
          <a:p xmlns:a="http://schemas.openxmlformats.org/drawingml/2006/main">
            <a:r>
              <a:rPr lang="en-US" sz="1300">
                <a:solidFill>
                  <a:srgbClr val="CBD5E1"/>
                </a:solidFill>
              </a:rPr>
              <a:t>Coordinated amplification of critical infrastructure attack planning</a:t>
            </a:r>
          </a:p>
        </p:txBody>
      </p:sp>
      <p:sp>
        <p:nvSpPr>
          <p:cNvPr id="100064" name="D6"/>
          <p:cNvSpPr txBox="1"/>
          <p:nvPr/>
        </p:nvSpPr>
        <p:spPr>
          <a:xfrm xmlns:a="http://schemas.openxmlformats.org/drawingml/2006/main">
            <a:off x="8100000" y="2880000"/>
            <a:ext cx="3240000" cy="1260000"/>
          </a:xfrm>
          <a:prstGeom xmlns:a="http://schemas.openxmlformats.org/drawingml/2006/main" prst="rect">
            <a:avLst/>
          </a:prstGeom>
          <a:solidFill xmlns:a="http://schemas.openxmlformats.org/drawingml/2006/main">
            <a:srgbClr val="0F1A2E"/>
          </a:solidFill>
        </p:spPr>
        <p:txBody>
          <a:bodyPr xmlns:a="http://schemas.openxmlformats.org/drawingml/2006/main"/>
          <a:lstStyle xmlns:a="http://schemas.openxmlformats.org/drawingml/2006/main"/>
          <a:p xmlns:a="http://schemas.openxmlformats.org/drawingml/2006/main">
            <a:r>
              <a:rPr lang="en-US" sz="1300">
                <a:solidFill>
                  <a:srgbClr val="CBD5E1"/>
                </a:solidFill>
              </a:rPr>
              <a:t>stock_manipulation</a:t>
            </a:r>
          </a:p>
          <a:p xmlns:a="http://schemas.openxmlformats.org/drawingml/2006/main">
            <a:r>
              <a:rPr lang="en-US" sz="1300">
                <a:solidFill>
                  <a:srgbClr val="CBD5E1"/>
                </a:solidFill>
              </a:rPr>
              <a:t>1,000+ users</a:t>
            </a:r>
          </a:p>
          <a:p xmlns:a="http://schemas.openxmlformats.org/drawingml/2006/main">
            <a:r>
              <a:rPr lang="en-US" sz="1300">
                <a:solidFill>
                  <a:srgbClr val="CBD5E1"/>
                </a:solidFill>
              </a:rPr>
              <a:t>Coordinated pump-and-dump campaign via fake financial news</a:t>
            </a:r>
          </a:p>
        </p:txBody>
      </p:sp>
      <p:sp>
        <p:nvSpPr>
          <p:cNvPr id="100065" name="D7"/>
          <p:cNvSpPr txBox="1"/>
          <p:nvPr/>
        </p:nvSpPr>
        <p:spPr>
          <a:xfrm xmlns:a="http://schemas.openxmlformats.org/drawingml/2006/main">
            <a:off x="2700000" y="4320000"/>
            <a:ext cx="3240000" cy="1260000"/>
          </a:xfrm>
          <a:prstGeom xmlns:a="http://schemas.openxmlformats.org/drawingml/2006/main" prst="rect">
            <a:avLst/>
          </a:prstGeom>
          <a:solidFill xmlns:a="http://schemas.openxmlformats.org/drawingml/2006/main">
            <a:srgbClr val="0F1A2E"/>
          </a:solidFill>
        </p:spPr>
        <p:txBody>
          <a:bodyPr xmlns:a="http://schemas.openxmlformats.org/drawingml/2006/main"/>
          <a:lstStyle xmlns:a="http://schemas.openxmlformats.org/drawingml/2006/main"/>
          <a:p xmlns:a="http://schemas.openxmlformats.org/drawingml/2006/main">
            <a:r>
              <a:rPr lang="en-US" sz="1300">
                <a:solidFill>
                  <a:srgbClr val="CBD5E1"/>
                </a:solidFill>
              </a:rPr>
              <a:t>exam_paper_leak</a:t>
            </a:r>
          </a:p>
          <a:p xmlns:a="http://schemas.openxmlformats.org/drawingml/2006/main">
            <a:r>
              <a:rPr lang="en-US" sz="1300">
                <a:solidFill>
                  <a:srgbClr val="CBD5E1"/>
                </a:solidFill>
              </a:rPr>
              <a:t>1,000+ users</a:t>
            </a:r>
          </a:p>
          <a:p xmlns:a="http://schemas.openxmlformats.org/drawingml/2006/main">
            <a:r>
              <a:rPr lang="en-US" sz="1300">
                <a:solidFill>
                  <a:srgbClr val="CBD5E1"/>
                </a:solidFill>
              </a:rPr>
              <a:t>Fake exam paper leak creating panic — coordinated misinformation</a:t>
            </a:r>
          </a:p>
        </p:txBody>
      </p:sp>
      <p:sp>
        <p:nvSpPr>
          <p:cNvPr id="100066" name="Note"/>
          <p:cNvSpPr txBox="1"/>
          <p:nvPr/>
        </p:nvSpPr>
        <p:spPr>
          <a:xfrm xmlns:a="http://schemas.openxmlformats.org/drawingml/2006/main">
            <a:off x="540000" y="5652000"/>
            <a:ext cx="108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200">
                <a:solidFill>
                  <a:srgbClr val="64748B"/>
                </a:solidFill>
              </a:rPr>
              <a:t>Each dataset: ~8–10% hostile coordinated accounts hidden in 90%+ organic noise · Deliberate false-positive traps to validate detection precision</a:t>
            </a:r>
          </a:p>
        </p:txBody>
      </p:sp>
    </p:spTree>
  </p:cSld>
</p:sld>
</file>

<file path=ppt/slides/slide9.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p:sp>
        <p:nvSpPr>
          <p:cNvPr id="100067" name="SlideNum"/>
          <p:cNvSpPr txBox="1"/>
          <p:nvPr/>
        </p:nvSpPr>
        <p:spPr>
          <a:xfrm xmlns:a="http://schemas.openxmlformats.org/drawingml/2006/main">
            <a:off x="10800000" y="180000"/>
            <a:ext cx="9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3B82F6"/>
                </a:solidFill>
              </a:rPr>
              <a:t>08</a:t>
            </a:r>
          </a:p>
        </p:txBody>
      </p:sp>
      <p:sp>
        <p:nvSpPr>
          <p:cNvPr id="100068" name="Title"/>
          <p:cNvSpPr txBox="1"/>
          <p:nvPr/>
        </p:nvSpPr>
        <p:spPr>
          <a:xfrm xmlns:a="http://schemas.openxmlformats.org/drawingml/2006/main">
            <a:off x="540000" y="360000"/>
            <a:ext cx="1008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FFFFFF"/>
                </a:solidFill>
              </a:rPr>
              <a:t>Why TitanSafe? Competitive Comparison</a:t>
            </a:r>
          </a:p>
        </p:txBody>
      </p:sp>
      <p:sp>
        <p:nvSpPr>
          <p:cNvPr id="100069" name="ColH1"/>
          <p:cNvSpPr txBox="1"/>
          <p:nvPr/>
        </p:nvSpPr>
        <p:spPr>
          <a:xfrm xmlns:a="http://schemas.openxmlformats.org/drawingml/2006/main">
            <a:off x="540000" y="1152000"/>
            <a:ext cx="3240000" cy="324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300" b="1">
                <a:solidFill>
                  <a:srgbClr val="FFFFFF"/>
                </a:solidFill>
              </a:rPr>
              <a:t>Approach</a:t>
            </a:r>
          </a:p>
        </p:txBody>
      </p:sp>
      <p:sp>
        <p:nvSpPr>
          <p:cNvPr id="100070" name="ColH2"/>
          <p:cNvSpPr txBox="1"/>
          <p:nvPr/>
        </p:nvSpPr>
        <p:spPr>
          <a:xfrm xmlns:a="http://schemas.openxmlformats.org/drawingml/2006/main">
            <a:off x="3960000" y="1152000"/>
            <a:ext cx="1620000" cy="324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300" b="1">
                <a:solidFill>
                  <a:srgbClr val="FFFFFF"/>
                </a:solidFill>
              </a:rPr>
              <a:t>Real-Time?</a:t>
            </a:r>
          </a:p>
        </p:txBody>
      </p:sp>
      <p:sp>
        <p:nvSpPr>
          <p:cNvPr id="100071" name="ColH3"/>
          <p:cNvSpPr txBox="1"/>
          <p:nvPr/>
        </p:nvSpPr>
        <p:spPr>
          <a:xfrm xmlns:a="http://schemas.openxmlformats.org/drawingml/2006/main">
            <a:off x="5760000" y="1152000"/>
            <a:ext cx="1620000" cy="324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300" b="1">
                <a:solidFill>
                  <a:srgbClr val="FFFFFF"/>
                </a:solidFill>
              </a:rPr>
              <a:t>Privacy-Safe?</a:t>
            </a:r>
          </a:p>
        </p:txBody>
      </p:sp>
      <p:sp>
        <p:nvSpPr>
          <p:cNvPr id="100072" name="ColH4"/>
          <p:cNvSpPr txBox="1"/>
          <p:nvPr/>
        </p:nvSpPr>
        <p:spPr>
          <a:xfrm xmlns:a="http://schemas.openxmlformats.org/drawingml/2006/main">
            <a:off x="7560000" y="1152000"/>
            <a:ext cx="1980000" cy="324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300" b="1">
                <a:solidFill>
                  <a:srgbClr val="FFFFFF"/>
                </a:solidFill>
              </a:rPr>
              <a:t>Cryptographically Verifiable?</a:t>
            </a:r>
          </a:p>
        </p:txBody>
      </p:sp>
      <p:sp>
        <p:nvSpPr>
          <p:cNvPr id="100073" name="ColH5"/>
          <p:cNvSpPr txBox="1"/>
          <p:nvPr/>
        </p:nvSpPr>
        <p:spPr>
          <a:xfrm xmlns:a="http://schemas.openxmlformats.org/drawingml/2006/main">
            <a:off x="9720000" y="1152000"/>
            <a:ext cx="1620000" cy="324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300" b="1">
                <a:solidFill>
                  <a:srgbClr val="FFFFFF"/>
                </a:solidFill>
              </a:rPr>
              <a:t>DPDP Compliant?</a:t>
            </a:r>
          </a:p>
        </p:txBody>
      </p:sp>
      <p:sp>
        <p:nvSpPr>
          <p:cNvPr id="100074" name="R1C1"/>
          <p:cNvSpPr txBox="1"/>
          <p:nvPr/>
        </p:nvSpPr>
        <p:spPr>
          <a:xfrm xmlns:a="http://schemas.openxmlformats.org/drawingml/2006/main">
            <a:off x="540000" y="1512000"/>
            <a:ext cx="3240000" cy="432000"/>
          </a:xfrm>
          <a:prstGeom xmlns:a="http://schemas.openxmlformats.org/drawingml/2006/main" prst="rect">
            <a:avLst/>
          </a:prstGeom>
          <a:solidFill xmlns:a="http://schemas.openxmlformats.org/drawingml/2006/main">
            <a:srgbClr val="131B2E"/>
          </a:solidFill>
        </p:spPr>
        <p:txBody>
          <a:bodyPr xmlns:a="http://schemas.openxmlformats.org/drawingml/2006/main"/>
          <a:lstStyle xmlns:a="http://schemas.openxmlformats.org/drawingml/2006/main"/>
          <a:p xmlns:a="http://schemas.openxmlformats.org/drawingml/2006/main">
            <a:r>
              <a:rPr lang="en-US" sz="1300">
                <a:solidFill>
                  <a:srgbClr val="CBD5E1"/>
                </a:solidFill>
              </a:rPr>
              <a:t>Manual LEA Request</a:t>
            </a:r>
          </a:p>
        </p:txBody>
      </p:sp>
      <p:sp>
        <p:nvSpPr>
          <p:cNvPr id="100075" name="R1C2"/>
          <p:cNvSpPr txBox="1"/>
          <p:nvPr/>
        </p:nvSpPr>
        <p:spPr>
          <a:xfrm xmlns:a="http://schemas.openxmlformats.org/drawingml/2006/main">
            <a:off x="3960000" y="1512000"/>
            <a:ext cx="1620000" cy="432000"/>
          </a:xfrm>
          <a:prstGeom xmlns:a="http://schemas.openxmlformats.org/drawingml/2006/main" prst="rect">
            <a:avLst/>
          </a:prstGeom>
          <a:solidFill xmlns:a="http://schemas.openxmlformats.org/drawingml/2006/main">
            <a:srgbClr val="131B2E"/>
          </a:solidFill>
        </p:spPr>
        <p:txBody>
          <a:bodyPr xmlns:a="http://schemas.openxmlformats.org/drawingml/2006/main"/>
          <a:lstStyle xmlns:a="http://schemas.openxmlformats.org/drawingml/2006/main"/>
          <a:p xmlns:a="http://schemas.openxmlformats.org/drawingml/2006/main">
            <a:r>
              <a:rPr lang="en-US" sz="1300">
                <a:solidFill>
                  <a:srgbClr val="F87171"/>
                </a:solidFill>
              </a:rPr>
              <a:t>No</a:t>
            </a:r>
          </a:p>
        </p:txBody>
      </p:sp>
      <p:sp>
        <p:nvSpPr>
          <p:cNvPr id="100076" name="R1C3"/>
          <p:cNvSpPr txBox="1"/>
          <p:nvPr/>
        </p:nvSpPr>
        <p:spPr>
          <a:xfrm xmlns:a="http://schemas.openxmlformats.org/drawingml/2006/main">
            <a:off x="5760000" y="1512000"/>
            <a:ext cx="1620000" cy="432000"/>
          </a:xfrm>
          <a:prstGeom xmlns:a="http://schemas.openxmlformats.org/drawingml/2006/main" prst="rect">
            <a:avLst/>
          </a:prstGeom>
          <a:solidFill xmlns:a="http://schemas.openxmlformats.org/drawingml/2006/main">
            <a:srgbClr val="131B2E"/>
          </a:solidFill>
        </p:spPr>
        <p:txBody>
          <a:bodyPr xmlns:a="http://schemas.openxmlformats.org/drawingml/2006/main"/>
          <a:lstStyle xmlns:a="http://schemas.openxmlformats.org/drawingml/2006/main"/>
          <a:p xmlns:a="http://schemas.openxmlformats.org/drawingml/2006/main">
            <a:r>
              <a:rPr lang="en-US" sz="1300">
                <a:solidFill>
                  <a:srgbClr val="F87171"/>
                </a:solidFill>
              </a:rPr>
              <a:t>No</a:t>
            </a:r>
          </a:p>
        </p:txBody>
      </p:sp>
      <p:sp>
        <p:nvSpPr>
          <p:cNvPr id="100077" name="R1C4"/>
          <p:cNvSpPr txBox="1"/>
          <p:nvPr/>
        </p:nvSpPr>
        <p:spPr>
          <a:xfrm xmlns:a="http://schemas.openxmlformats.org/drawingml/2006/main">
            <a:off x="7560000" y="1512000"/>
            <a:ext cx="1980000" cy="432000"/>
          </a:xfrm>
          <a:prstGeom xmlns:a="http://schemas.openxmlformats.org/drawingml/2006/main" prst="rect">
            <a:avLst/>
          </a:prstGeom>
          <a:solidFill xmlns:a="http://schemas.openxmlformats.org/drawingml/2006/main">
            <a:srgbClr val="131B2E"/>
          </a:solidFill>
        </p:spPr>
        <p:txBody>
          <a:bodyPr xmlns:a="http://schemas.openxmlformats.org/drawingml/2006/main"/>
          <a:lstStyle xmlns:a="http://schemas.openxmlformats.org/drawingml/2006/main"/>
          <a:p xmlns:a="http://schemas.openxmlformats.org/drawingml/2006/main">
            <a:r>
              <a:rPr lang="en-US" sz="1300">
                <a:solidFill>
                  <a:srgbClr val="F87171"/>
                </a:solidFill>
              </a:rPr>
              <a:t>No</a:t>
            </a:r>
          </a:p>
        </p:txBody>
      </p:sp>
      <p:sp>
        <p:nvSpPr>
          <p:cNvPr id="100078" name="R1C5"/>
          <p:cNvSpPr txBox="1"/>
          <p:nvPr/>
        </p:nvSpPr>
        <p:spPr>
          <a:xfrm xmlns:a="http://schemas.openxmlformats.org/drawingml/2006/main">
            <a:off x="9720000" y="1512000"/>
            <a:ext cx="1620000" cy="432000"/>
          </a:xfrm>
          <a:prstGeom xmlns:a="http://schemas.openxmlformats.org/drawingml/2006/main" prst="rect">
            <a:avLst/>
          </a:prstGeom>
          <a:solidFill xmlns:a="http://schemas.openxmlformats.org/drawingml/2006/main">
            <a:srgbClr val="131B2E"/>
          </a:solidFill>
        </p:spPr>
        <p:txBody>
          <a:bodyPr xmlns:a="http://schemas.openxmlformats.org/drawingml/2006/main"/>
          <a:lstStyle xmlns:a="http://schemas.openxmlformats.org/drawingml/2006/main"/>
          <a:p xmlns:a="http://schemas.openxmlformats.org/drawingml/2006/main">
            <a:r>
              <a:rPr lang="en-US" sz="1300">
                <a:solidFill>
                  <a:srgbClr val="FDE68A"/>
                </a:solidFill>
              </a:rPr>
              <a:t>Partial</a:t>
            </a:r>
          </a:p>
        </p:txBody>
      </p:sp>
      <p:sp>
        <p:nvSpPr>
          <p:cNvPr id="100079" name="R2C1"/>
          <p:cNvSpPr txBox="1"/>
          <p:nvPr/>
        </p:nvSpPr>
        <p:spPr>
          <a:xfrm xmlns:a="http://schemas.openxmlformats.org/drawingml/2006/main">
            <a:off x="540000" y="1980000"/>
            <a:ext cx="3240000" cy="432000"/>
          </a:xfrm>
          <a:prstGeom xmlns:a="http://schemas.openxmlformats.org/drawingml/2006/main" prst="rect">
            <a:avLst/>
          </a:prstGeom>
          <a:solidFill xmlns:a="http://schemas.openxmlformats.org/drawingml/2006/main">
            <a:srgbClr val="0D1117"/>
          </a:solidFill>
        </p:spPr>
        <p:txBody>
          <a:bodyPr xmlns:a="http://schemas.openxmlformats.org/drawingml/2006/main"/>
          <a:lstStyle xmlns:a="http://schemas.openxmlformats.org/drawingml/2006/main"/>
          <a:p xmlns:a="http://schemas.openxmlformats.org/drawingml/2006/main">
            <a:r>
              <a:rPr lang="en-US" sz="1300">
                <a:solidFill>
                  <a:srgbClr val="CBD5E1"/>
                </a:solidFill>
              </a:rPr>
              <a:t>OSINT / Manual Analysis</a:t>
            </a:r>
          </a:p>
        </p:txBody>
      </p:sp>
      <p:sp>
        <p:nvSpPr>
          <p:cNvPr id="100080" name="R2C2"/>
          <p:cNvSpPr txBox="1"/>
          <p:nvPr/>
        </p:nvSpPr>
        <p:spPr>
          <a:xfrm xmlns:a="http://schemas.openxmlformats.org/drawingml/2006/main">
            <a:off x="3960000" y="1980000"/>
            <a:ext cx="1620000" cy="432000"/>
          </a:xfrm>
          <a:prstGeom xmlns:a="http://schemas.openxmlformats.org/drawingml/2006/main" prst="rect">
            <a:avLst/>
          </a:prstGeom>
          <a:solidFill xmlns:a="http://schemas.openxmlformats.org/drawingml/2006/main">
            <a:srgbClr val="0D1117"/>
          </a:solidFill>
        </p:spPr>
        <p:txBody>
          <a:bodyPr xmlns:a="http://schemas.openxmlformats.org/drawingml/2006/main"/>
          <a:lstStyle xmlns:a="http://schemas.openxmlformats.org/drawingml/2006/main"/>
          <a:p xmlns:a="http://schemas.openxmlformats.org/drawingml/2006/main">
            <a:r>
              <a:rPr lang="en-US" sz="1300">
                <a:solidFill>
                  <a:srgbClr val="86EFAC"/>
                </a:solidFill>
              </a:rPr>
              <a:t>Yes</a:t>
            </a:r>
          </a:p>
        </p:txBody>
      </p:sp>
      <p:sp>
        <p:nvSpPr>
          <p:cNvPr id="100081" name="R2C3"/>
          <p:cNvSpPr txBox="1"/>
          <p:nvPr/>
        </p:nvSpPr>
        <p:spPr>
          <a:xfrm xmlns:a="http://schemas.openxmlformats.org/drawingml/2006/main">
            <a:off x="5760000" y="1980000"/>
            <a:ext cx="1620000" cy="432000"/>
          </a:xfrm>
          <a:prstGeom xmlns:a="http://schemas.openxmlformats.org/drawingml/2006/main" prst="rect">
            <a:avLst/>
          </a:prstGeom>
          <a:solidFill xmlns:a="http://schemas.openxmlformats.org/drawingml/2006/main">
            <a:srgbClr val="0D1117"/>
          </a:solidFill>
        </p:spPr>
        <p:txBody>
          <a:bodyPr xmlns:a="http://schemas.openxmlformats.org/drawingml/2006/main"/>
          <a:lstStyle xmlns:a="http://schemas.openxmlformats.org/drawingml/2006/main"/>
          <a:p xmlns:a="http://schemas.openxmlformats.org/drawingml/2006/main">
            <a:r>
              <a:rPr lang="en-US" sz="1300">
                <a:solidFill>
                  <a:srgbClr val="F87171"/>
                </a:solidFill>
              </a:rPr>
              <a:t>No</a:t>
            </a:r>
          </a:p>
        </p:txBody>
      </p:sp>
      <p:sp>
        <p:nvSpPr>
          <p:cNvPr id="100082" name="R2C4"/>
          <p:cNvSpPr txBox="1"/>
          <p:nvPr/>
        </p:nvSpPr>
        <p:spPr>
          <a:xfrm xmlns:a="http://schemas.openxmlformats.org/drawingml/2006/main">
            <a:off x="7560000" y="1980000"/>
            <a:ext cx="1980000" cy="432000"/>
          </a:xfrm>
          <a:prstGeom xmlns:a="http://schemas.openxmlformats.org/drawingml/2006/main" prst="rect">
            <a:avLst/>
          </a:prstGeom>
          <a:solidFill xmlns:a="http://schemas.openxmlformats.org/drawingml/2006/main">
            <a:srgbClr val="0D1117"/>
          </a:solidFill>
        </p:spPr>
        <p:txBody>
          <a:bodyPr xmlns:a="http://schemas.openxmlformats.org/drawingml/2006/main"/>
          <a:lstStyle xmlns:a="http://schemas.openxmlformats.org/drawingml/2006/main"/>
          <a:p xmlns:a="http://schemas.openxmlformats.org/drawingml/2006/main">
            <a:r>
              <a:rPr lang="en-US" sz="1300">
                <a:solidFill>
                  <a:srgbClr val="F87171"/>
                </a:solidFill>
              </a:rPr>
              <a:t>No</a:t>
            </a:r>
          </a:p>
        </p:txBody>
      </p:sp>
      <p:sp>
        <p:nvSpPr>
          <p:cNvPr id="100083" name="R2C5"/>
          <p:cNvSpPr txBox="1"/>
          <p:nvPr/>
        </p:nvSpPr>
        <p:spPr>
          <a:xfrm xmlns:a="http://schemas.openxmlformats.org/drawingml/2006/main">
            <a:off x="9720000" y="1980000"/>
            <a:ext cx="1620000" cy="432000"/>
          </a:xfrm>
          <a:prstGeom xmlns:a="http://schemas.openxmlformats.org/drawingml/2006/main" prst="rect">
            <a:avLst/>
          </a:prstGeom>
          <a:solidFill xmlns:a="http://schemas.openxmlformats.org/drawingml/2006/main">
            <a:srgbClr val="0D1117"/>
          </a:solidFill>
        </p:spPr>
        <p:txBody>
          <a:bodyPr xmlns:a="http://schemas.openxmlformats.org/drawingml/2006/main"/>
          <a:lstStyle xmlns:a="http://schemas.openxmlformats.org/drawingml/2006/main"/>
          <a:p xmlns:a="http://schemas.openxmlformats.org/drawingml/2006/main">
            <a:r>
              <a:rPr lang="en-US" sz="1300">
                <a:solidFill>
                  <a:srgbClr val="F87171"/>
                </a:solidFill>
              </a:rPr>
              <a:t>No</a:t>
            </a:r>
          </a:p>
        </p:txBody>
      </p:sp>
      <p:sp>
        <p:nvSpPr>
          <p:cNvPr id="100084" name="R3C1"/>
          <p:cNvSpPr txBox="1"/>
          <p:nvPr/>
        </p:nvSpPr>
        <p:spPr>
          <a:xfrm xmlns:a="http://schemas.openxmlformats.org/drawingml/2006/main">
            <a:off x="540000" y="2448000"/>
            <a:ext cx="3240000" cy="432000"/>
          </a:xfrm>
          <a:prstGeom xmlns:a="http://schemas.openxmlformats.org/drawingml/2006/main" prst="rect">
            <a:avLst/>
          </a:prstGeom>
          <a:solidFill xmlns:a="http://schemas.openxmlformats.org/drawingml/2006/main">
            <a:srgbClr val="131B2E"/>
          </a:solidFill>
        </p:spPr>
        <p:txBody>
          <a:bodyPr xmlns:a="http://schemas.openxmlformats.org/drawingml/2006/main"/>
          <a:lstStyle xmlns:a="http://schemas.openxmlformats.org/drawingml/2006/main"/>
          <a:p xmlns:a="http://schemas.openxmlformats.org/drawingml/2006/main">
            <a:r>
              <a:rPr lang="en-US" sz="1300">
                <a:solidFill>
                  <a:srgbClr val="CBD5E1"/>
                </a:solidFill>
              </a:rPr>
              <a:t>Platform Transparency Reports</a:t>
            </a:r>
          </a:p>
        </p:txBody>
      </p:sp>
      <p:sp>
        <p:nvSpPr>
          <p:cNvPr id="100085" name="R3C2"/>
          <p:cNvSpPr txBox="1"/>
          <p:nvPr/>
        </p:nvSpPr>
        <p:spPr>
          <a:xfrm xmlns:a="http://schemas.openxmlformats.org/drawingml/2006/main">
            <a:off x="3960000" y="2448000"/>
            <a:ext cx="1620000" cy="432000"/>
          </a:xfrm>
          <a:prstGeom xmlns:a="http://schemas.openxmlformats.org/drawingml/2006/main" prst="rect">
            <a:avLst/>
          </a:prstGeom>
          <a:solidFill xmlns:a="http://schemas.openxmlformats.org/drawingml/2006/main">
            <a:srgbClr val="131B2E"/>
          </a:solidFill>
        </p:spPr>
        <p:txBody>
          <a:bodyPr xmlns:a="http://schemas.openxmlformats.org/drawingml/2006/main"/>
          <a:lstStyle xmlns:a="http://schemas.openxmlformats.org/drawingml/2006/main"/>
          <a:p xmlns:a="http://schemas.openxmlformats.org/drawingml/2006/main">
            <a:r>
              <a:rPr lang="en-US" sz="1300">
                <a:solidFill>
                  <a:srgbClr val="F87171"/>
                </a:solidFill>
              </a:rPr>
              <a:t>No</a:t>
            </a:r>
          </a:p>
        </p:txBody>
      </p:sp>
      <p:sp>
        <p:nvSpPr>
          <p:cNvPr id="100086" name="R3C3"/>
          <p:cNvSpPr txBox="1"/>
          <p:nvPr/>
        </p:nvSpPr>
        <p:spPr>
          <a:xfrm xmlns:a="http://schemas.openxmlformats.org/drawingml/2006/main">
            <a:off x="5760000" y="2448000"/>
            <a:ext cx="1620000" cy="432000"/>
          </a:xfrm>
          <a:prstGeom xmlns:a="http://schemas.openxmlformats.org/drawingml/2006/main" prst="rect">
            <a:avLst/>
          </a:prstGeom>
          <a:solidFill xmlns:a="http://schemas.openxmlformats.org/drawingml/2006/main">
            <a:srgbClr val="131B2E"/>
          </a:solidFill>
        </p:spPr>
        <p:txBody>
          <a:bodyPr xmlns:a="http://schemas.openxmlformats.org/drawingml/2006/main"/>
          <a:lstStyle xmlns:a="http://schemas.openxmlformats.org/drawingml/2006/main"/>
          <a:p xmlns:a="http://schemas.openxmlformats.org/drawingml/2006/main">
            <a:r>
              <a:rPr lang="en-US" sz="1300">
                <a:solidFill>
                  <a:srgbClr val="FDE68A"/>
                </a:solidFill>
              </a:rPr>
              <a:t>Partial</a:t>
            </a:r>
          </a:p>
        </p:txBody>
      </p:sp>
      <p:sp>
        <p:nvSpPr>
          <p:cNvPr id="100087" name="R3C4"/>
          <p:cNvSpPr txBox="1"/>
          <p:nvPr/>
        </p:nvSpPr>
        <p:spPr>
          <a:xfrm xmlns:a="http://schemas.openxmlformats.org/drawingml/2006/main">
            <a:off x="7560000" y="2448000"/>
            <a:ext cx="1980000" cy="432000"/>
          </a:xfrm>
          <a:prstGeom xmlns:a="http://schemas.openxmlformats.org/drawingml/2006/main" prst="rect">
            <a:avLst/>
          </a:prstGeom>
          <a:solidFill xmlns:a="http://schemas.openxmlformats.org/drawingml/2006/main">
            <a:srgbClr val="131B2E"/>
          </a:solidFill>
        </p:spPr>
        <p:txBody>
          <a:bodyPr xmlns:a="http://schemas.openxmlformats.org/drawingml/2006/main"/>
          <a:lstStyle xmlns:a="http://schemas.openxmlformats.org/drawingml/2006/main"/>
          <a:p xmlns:a="http://schemas.openxmlformats.org/drawingml/2006/main">
            <a:r>
              <a:rPr lang="en-US" sz="1300">
                <a:solidFill>
                  <a:srgbClr val="F87171"/>
                </a:solidFill>
              </a:rPr>
              <a:t>No</a:t>
            </a:r>
          </a:p>
        </p:txBody>
      </p:sp>
      <p:sp>
        <p:nvSpPr>
          <p:cNvPr id="100088" name="R3C5"/>
          <p:cNvSpPr txBox="1"/>
          <p:nvPr/>
        </p:nvSpPr>
        <p:spPr>
          <a:xfrm xmlns:a="http://schemas.openxmlformats.org/drawingml/2006/main">
            <a:off x="9720000" y="2448000"/>
            <a:ext cx="1620000" cy="432000"/>
          </a:xfrm>
          <a:prstGeom xmlns:a="http://schemas.openxmlformats.org/drawingml/2006/main" prst="rect">
            <a:avLst/>
          </a:prstGeom>
          <a:solidFill xmlns:a="http://schemas.openxmlformats.org/drawingml/2006/main">
            <a:srgbClr val="131B2E"/>
          </a:solidFill>
        </p:spPr>
        <p:txBody>
          <a:bodyPr xmlns:a="http://schemas.openxmlformats.org/drawingml/2006/main"/>
          <a:lstStyle xmlns:a="http://schemas.openxmlformats.org/drawingml/2006/main"/>
          <a:p xmlns:a="http://schemas.openxmlformats.org/drawingml/2006/main">
            <a:r>
              <a:rPr lang="en-US" sz="1300">
                <a:solidFill>
                  <a:srgbClr val="FDE68A"/>
                </a:solidFill>
              </a:rPr>
              <a:t>Partial</a:t>
            </a:r>
          </a:p>
        </p:txBody>
      </p:sp>
      <p:sp>
        <p:nvSpPr>
          <p:cNvPr id="100089" name="R4C1"/>
          <p:cNvSpPr txBox="1"/>
          <p:nvPr/>
        </p:nvSpPr>
        <p:spPr>
          <a:xfrm xmlns:a="http://schemas.openxmlformats.org/drawingml/2006/main">
            <a:off x="540000" y="2916000"/>
            <a:ext cx="3240000" cy="432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r>
              <a:rPr lang="en-US" sz="1300" b="1">
                <a:solidFill>
                  <a:srgbClr val="3B82F6"/>
                </a:solidFill>
              </a:rPr>
              <a:t>TitanSafe</a:t>
            </a:r>
          </a:p>
        </p:txBody>
      </p:sp>
      <p:sp>
        <p:nvSpPr>
          <p:cNvPr id="100090" name="R4C2"/>
          <p:cNvSpPr txBox="1"/>
          <p:nvPr/>
        </p:nvSpPr>
        <p:spPr>
          <a:xfrm xmlns:a="http://schemas.openxmlformats.org/drawingml/2006/main">
            <a:off x="3960000" y="2916000"/>
            <a:ext cx="1620000" cy="432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r>
              <a:rPr lang="en-US" sz="1300" b="1">
                <a:solidFill>
                  <a:srgbClr val="86EFAC"/>
                </a:solidFill>
              </a:rPr>
              <a:t>Yes</a:t>
            </a:r>
          </a:p>
        </p:txBody>
      </p:sp>
      <p:sp>
        <p:nvSpPr>
          <p:cNvPr id="100091" name="R4C3"/>
          <p:cNvSpPr txBox="1"/>
          <p:nvPr/>
        </p:nvSpPr>
        <p:spPr>
          <a:xfrm xmlns:a="http://schemas.openxmlformats.org/drawingml/2006/main">
            <a:off x="5760000" y="2916000"/>
            <a:ext cx="1620000" cy="432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r>
              <a:rPr lang="en-US" sz="1300" b="1">
                <a:solidFill>
                  <a:srgbClr val="86EFAC"/>
                </a:solidFill>
              </a:rPr>
              <a:t>Yes</a:t>
            </a:r>
          </a:p>
        </p:txBody>
      </p:sp>
      <p:sp>
        <p:nvSpPr>
          <p:cNvPr id="100092" name="R4C4"/>
          <p:cNvSpPr txBox="1"/>
          <p:nvPr/>
        </p:nvSpPr>
        <p:spPr>
          <a:xfrm xmlns:a="http://schemas.openxmlformats.org/drawingml/2006/main">
            <a:off x="7560000" y="2916000"/>
            <a:ext cx="1980000" cy="432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r>
              <a:rPr lang="en-US" sz="1300" b="1">
                <a:solidFill>
                  <a:srgbClr val="86EFAC"/>
                </a:solidFill>
              </a:rPr>
              <a:t>Yes</a:t>
            </a:r>
          </a:p>
        </p:txBody>
      </p:sp>
      <p:sp>
        <p:nvSpPr>
          <p:cNvPr id="100093" name="R4C5"/>
          <p:cNvSpPr txBox="1"/>
          <p:nvPr/>
        </p:nvSpPr>
        <p:spPr>
          <a:xfrm xmlns:a="http://schemas.openxmlformats.org/drawingml/2006/main">
            <a:off x="9720000" y="2916000"/>
            <a:ext cx="1620000" cy="432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r>
              <a:rPr lang="en-US" sz="1300" b="1">
                <a:solidFill>
                  <a:srgbClr val="86EFAC"/>
                </a:solidFill>
              </a:rPr>
              <a:t>Yes</a:t>
            </a:r>
          </a:p>
        </p:txBody>
      </p:sp>
      <p:sp>
        <p:nvSpPr>
          <p:cNvPr id="100094" name="Summary"/>
          <p:cNvSpPr txBox="1"/>
          <p:nvPr/>
        </p:nvSpPr>
        <p:spPr>
          <a:xfrm xmlns:a="http://schemas.openxmlformats.org/drawingml/2006/main">
            <a:off x="540000" y="3780000"/>
            <a:ext cx="108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600">
                <a:solidFill>
                  <a:srgbClr val="CBD5E1"/>
                </a:solidFill>
              </a:rPr>
              <a:t>TitanSafe is the only solution that combines real-time CIB detection, tiered proportional disclosure, zero-knowledge proofs, and a tamper-evident audit chain in a single deployable package.</a:t>
            </a:r>
          </a:p>
        </p:txBody>
      </p:sp>
    </p:spTree>
  </p:cSld>
</p:sld>
</file>

<file path=ppt/slides/slide10.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p:sp>
        <p:nvSpPr>
          <p:cNvPr id="100095" name="SlideNum"/>
          <p:cNvSpPr txBox="1"/>
          <p:nvPr/>
        </p:nvSpPr>
        <p:spPr>
          <a:xfrm xmlns:a="http://schemas.openxmlformats.org/drawingml/2006/main">
            <a:off x="10800000" y="180000"/>
            <a:ext cx="9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3B82F6"/>
                </a:solidFill>
              </a:rPr>
              <a:t>09</a:t>
            </a:r>
          </a:p>
        </p:txBody>
      </p:sp>
      <p:sp>
        <p:nvSpPr>
          <p:cNvPr id="100096" name="Title"/>
          <p:cNvSpPr txBox="1"/>
          <p:nvPr/>
        </p:nvSpPr>
        <p:spPr>
          <a:xfrm xmlns:a="http://schemas.openxmlformats.org/drawingml/2006/main">
            <a:off x="540000" y="360000"/>
            <a:ext cx="1008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FFFFFF"/>
                </a:solidFill>
              </a:rPr>
              <a:t>Impact &amp; Who Benefits</a:t>
            </a:r>
          </a:p>
        </p:txBody>
      </p:sp>
      <p:sp>
        <p:nvSpPr>
          <p:cNvPr id="100097" name="B1"/>
          <p:cNvSpPr txBox="1"/>
          <p:nvPr/>
        </p:nvSpPr>
        <p:spPr>
          <a:xfrm xmlns:a="http://schemas.openxmlformats.org/drawingml/2006/main">
            <a:off x="540000" y="1260000"/>
            <a:ext cx="5040000" cy="162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r>
              <a:rPr lang="en-US" sz="1400">
                <a:solidFill>
                  <a:srgbClr val="CBD5E1"/>
                </a:solidFill>
              </a:rPr>
              <a:t>State Cyber Cells &amp; District Officers</a:t>
            </a:r>
          </a:p>
          <a:p xmlns:a="http://schemas.openxmlformats.org/drawingml/2006/main">
            <a:r>
              <a:rPr lang="en-US" sz="1400">
                <a:solidFill>
                  <a:srgbClr val="CBD5E1"/>
                </a:solidFill>
              </a:rPr>
              <a:t/>
            </a:r>
          </a:p>
          <a:p xmlns:a="http://schemas.openxmlformats.org/drawingml/2006/main">
            <a:r>
              <a:rPr lang="en-US" sz="1400">
                <a:solidFill>
                  <a:srgbClr val="CBD5E1"/>
                </a:solidFill>
              </a:rPr>
              <a:t>Get timely, precise, cryptographically verifiable threat intelligence in under 30 minutes — without bulk surveillance — to prevent offline violence.</a:t>
            </a:r>
          </a:p>
        </p:txBody>
      </p:sp>
      <p:sp>
        <p:nvSpPr>
          <p:cNvPr id="100098" name="B2"/>
          <p:cNvSpPr txBox="1"/>
          <p:nvPr/>
        </p:nvSpPr>
        <p:spPr>
          <a:xfrm xmlns:a="http://schemas.openxmlformats.org/drawingml/2006/main">
            <a:off x="6300000" y="1260000"/>
            <a:ext cx="5040000" cy="162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r>
              <a:rPr lang="en-US" sz="1400">
                <a:solidFill>
                  <a:srgbClr val="CBD5E1"/>
                </a:solidFill>
              </a:rPr>
              <a:t>Social Media Platforms</a:t>
            </a:r>
          </a:p>
          <a:p xmlns:a="http://schemas.openxmlformats.org/drawingml/2006/main">
            <a:r>
              <a:rPr lang="en-US" sz="1400">
                <a:solidFill>
                  <a:srgbClr val="CBD5E1"/>
                </a:solidFill>
              </a:rPr>
              <a:t/>
            </a:r>
          </a:p>
          <a:p xmlns:a="http://schemas.openxmlformats.org/drawingml/2006/main">
            <a:r>
              <a:rPr lang="en-US" sz="1400">
                <a:solidFill>
                  <a:srgbClr val="CBD5E1"/>
                </a:solidFill>
              </a:rPr>
              <a:t>A deployable, zero-dependency Python library that lets platforms cooperate with legitimate LEA requests while provably protecting uninvolved users.</a:t>
            </a:r>
          </a:p>
        </p:txBody>
      </p:sp>
      <p:sp>
        <p:nvSpPr>
          <p:cNvPr id="100099" name="B3"/>
          <p:cNvSpPr txBox="1"/>
          <p:nvPr/>
        </p:nvSpPr>
        <p:spPr>
          <a:xfrm xmlns:a="http://schemas.openxmlformats.org/drawingml/2006/main">
            <a:off x="540000" y="3060000"/>
            <a:ext cx="5040000" cy="162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r>
              <a:rPr lang="en-US" sz="1400">
                <a:solidFill>
                  <a:srgbClr val="CBD5E1"/>
                </a:solidFill>
              </a:rPr>
              <a:t>Ordinary Citizens</a:t>
            </a:r>
          </a:p>
          <a:p xmlns:a="http://schemas.openxmlformats.org/drawingml/2006/main">
            <a:r>
              <a:rPr lang="en-US" sz="1400">
                <a:solidFill>
                  <a:srgbClr val="CBD5E1"/>
                </a:solidFill>
              </a:rPr>
              <a:t/>
            </a:r>
          </a:p>
          <a:p xmlns:a="http://schemas.openxmlformats.org/drawingml/2006/main">
            <a:r>
              <a:rPr lang="en-US" sz="1400">
                <a:solidFill>
                  <a:srgbClr val="CBD5E1"/>
                </a:solidFill>
              </a:rPr>
              <a:t>900M+ Indian internet users whose data has historically been swept up in bulk disclosures — now protected by minimisation, ZK proofs, and cryptographic gates.</a:t>
            </a:r>
          </a:p>
        </p:txBody>
      </p:sp>
      <p:sp>
        <p:nvSpPr>
          <p:cNvPr id="100100" name="B4"/>
          <p:cNvSpPr txBox="1"/>
          <p:nvPr/>
        </p:nvSpPr>
        <p:spPr>
          <a:xfrm xmlns:a="http://schemas.openxmlformats.org/drawingml/2006/main">
            <a:off x="6300000" y="3060000"/>
            <a:ext cx="5040000" cy="162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r>
              <a:rPr lang="en-US" sz="1400">
                <a:solidFill>
                  <a:srgbClr val="CBD5E1"/>
                </a:solidFill>
              </a:rPr>
              <a:t>Journalists &amp; Activists</a:t>
            </a:r>
          </a:p>
          <a:p xmlns:a="http://schemas.openxmlformats.org/drawingml/2006/main">
            <a:r>
              <a:rPr lang="en-US" sz="1400">
                <a:solidFill>
                  <a:srgbClr val="CBD5E1"/>
                </a:solidFill>
              </a:rPr>
              <a:t/>
            </a:r>
          </a:p>
          <a:p xmlns:a="http://schemas.openxmlformats.org/drawingml/2006/main">
            <a:r>
              <a:rPr lang="en-US" sz="1400">
                <a:solidFill>
                  <a:srgbClr val="CBD5E1"/>
                </a:solidFill>
              </a:rPr>
              <a:t>Disproportionate targets of doxxing campaigns — now protected by the same tiered gates that require a court order before any real identity is revealed.</a:t>
            </a:r>
          </a:p>
        </p:txBody>
      </p:sp>
      <p:sp>
        <p:nvSpPr>
          <p:cNvPr id="100101" name="StatBar"/>
          <p:cNvSpPr txBox="1"/>
          <p:nvPr/>
        </p:nvSpPr>
        <p:spPr>
          <a:xfrm xmlns:a="http://schemas.openxmlformats.org/drawingml/2006/main">
            <a:off x="540000" y="4860000"/>
            <a:ext cx="10800000" cy="432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r>
              <a:rPr lang="en-US" sz="1300" b="1">
                <a:solidFill>
                  <a:srgbClr val="3B82F6"/>
                </a:solidFill>
              </a:rPr>
              <a:t>900M+ users protected · 30-min detection window · 0 raw personal data exported from platform boundary · 100% audit trail verifiable without platform cooperation</a:t>
            </a:r>
          </a:p>
        </p:txBody>
      </p:sp>
    </p:spTree>
  </p:cSld>
</p:sld>
</file>

<file path=ppt/slides/slide11.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p:sp>
        <p:nvSpPr>
          <p:cNvPr id="100102" name="SlideNum"/>
          <p:cNvSpPr txBox="1"/>
          <p:nvPr/>
        </p:nvSpPr>
        <p:spPr>
          <a:xfrm xmlns:a="http://schemas.openxmlformats.org/drawingml/2006/main">
            <a:off x="10800000" y="180000"/>
            <a:ext cx="9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3B82F6"/>
                </a:solidFill>
              </a:rPr>
              <a:t>10</a:t>
            </a:r>
          </a:p>
        </p:txBody>
      </p:sp>
      <p:sp>
        <p:nvSpPr>
          <p:cNvPr id="100103" name="Title"/>
          <p:cNvSpPr txBox="1"/>
          <p:nvPr/>
        </p:nvSpPr>
        <p:spPr>
          <a:xfrm xmlns:a="http://schemas.openxmlformats.org/drawingml/2006/main">
            <a:off x="540000" y="360000"/>
            <a:ext cx="1008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FFFFFF"/>
                </a:solidFill>
              </a:rPr>
              <a:t>What Makes Us Most Proud</a:t>
            </a:r>
          </a:p>
        </p:txBody>
      </p:sp>
      <p:sp>
        <p:nvSpPr>
          <p:cNvPr id="100104" name="Proud"/>
          <p:cNvSpPr txBox="1"/>
          <p:nvPr/>
        </p:nvSpPr>
        <p:spPr>
          <a:xfrm xmlns:a="http://schemas.openxmlformats.org/drawingml/2006/main">
            <a:off x="540000" y="1080000"/>
            <a:ext cx="10800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000" b="1">
                <a:solidFill>
                  <a:srgbClr val="3B82F6"/>
                </a:solidFill>
              </a:rPr>
              <a:t>The Cryptographic Integrity Chain</a:t>
            </a:r>
          </a:p>
        </p:txBody>
      </p:sp>
      <p:sp>
        <p:nvSpPr>
          <p:cNvPr id="100105" name="ProudBody"/>
          <p:cNvSpPr txBox="1"/>
          <p:nvPr/>
        </p:nvSpPr>
        <p:spPr>
          <a:xfrm xmlns:a="http://schemas.openxmlformats.org/drawingml/2006/main">
            <a:off x="540000" y="1512000"/>
            <a:ext cx="10800000" cy="180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600">
                <a:solidFill>
                  <a:srgbClr val="CBD5E1"/>
                </a:solidFill>
              </a:rPr>
              <a:t>The same Pedersen-commitment / Schnorr ZK proof stack from QBOM-ZT is repurposed here to prove 'at least k accounts in this threat cluster' without revealing the exact count.</a:t>
            </a:r>
          </a:p>
          <a:p xmlns:a="http://schemas.openxmlformats.org/drawingml/2006/main">
            <a:r>
              <a:rPr lang="en-US" sz="1600">
                <a:solidFill>
                  <a:srgbClr val="CBD5E1"/>
                </a:solidFill>
              </a:rPr>
              <a:t/>
            </a:r>
          </a:p>
          <a:p xmlns:a="http://schemas.openxmlformats.org/drawingml/2006/main">
            <a:r>
              <a:rPr lang="en-US" sz="1600">
                <a:solidFill>
                  <a:srgbClr val="CBD5E1"/>
                </a:solidFill>
              </a:rPr>
              <a:t>Combined with per-case HMAC pseudonyms (the same user looks different in every case — no cross-case linking) and Merkle-anchored post evidence, TitanSafe gives LEAs mathematically verifiable guarantees — not just a platform's word — that the evidence they received is authentic and hasn't been tampered with.</a:t>
            </a:r>
          </a:p>
          <a:p xmlns:a="http://schemas.openxmlformats.org/drawingml/2006/main">
            <a:r>
              <a:rPr lang="en-US" sz="1600">
                <a:solidFill>
                  <a:srgbClr val="CBD5E1"/>
                </a:solidFill>
              </a:rPr>
              <a:t/>
            </a:r>
          </a:p>
          <a:p xmlns:a="http://schemas.openxmlformats.org/drawingml/2006/main">
            <a:r>
              <a:rPr lang="en-US" sz="1600">
                <a:solidFill>
                  <a:srgbClr val="CBD5E1"/>
                </a:solidFill>
              </a:rPr>
              <a:t>The LEA can run 'python -m TitanSafe.cli verify out' at any time, with no platform cooperation, and confirm every proof still holds.</a:t>
            </a:r>
          </a:p>
        </p:txBody>
      </p:sp>
      <p:sp>
        <p:nvSpPr>
          <p:cNvPr id="100106" name="IBMHeading"/>
          <p:cNvSpPr txBox="1"/>
          <p:nvPr/>
        </p:nvSpPr>
        <p:spPr>
          <a:xfrm xmlns:a="http://schemas.openxmlformats.org/drawingml/2006/main">
            <a:off x="540000" y="3528000"/>
            <a:ext cx="10800000" cy="324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600" b="1">
                <a:solidFill>
                  <a:srgbClr val="3B82F6"/>
                </a:solidFill>
              </a:rPr>
              <a:t>Built with IBM Bob</a:t>
            </a:r>
          </a:p>
        </p:txBody>
      </p:sp>
      <p:sp>
        <p:nvSpPr>
          <p:cNvPr id="100107" name="IBMBody"/>
          <p:cNvSpPr txBox="1"/>
          <p:nvPr/>
        </p:nvSpPr>
        <p:spPr>
          <a:xfrm xmlns:a="http://schemas.openxmlformats.org/drawingml/2006/main">
            <a:off x="540000" y="3924000"/>
            <a:ext cx="10800000" cy="14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500">
                <a:solidFill>
                  <a:srgbClr val="CBD5E1"/>
                </a:solidFill>
              </a:rPr>
              <a:t>IBM Bob (AI-assisted development) was used throughout the entire development cycle:</a:t>
            </a:r>
          </a:p>
          <a:p xmlns:a="http://schemas.openxmlformats.org/drawingml/2006/main">
            <a:r>
              <a:rPr lang="en-US" sz="1500">
                <a:solidFill>
                  <a:srgbClr val="CBD5E1"/>
                </a:solidFill>
              </a:rPr>
              <a:t/>
            </a:r>
          </a:p>
          <a:p xmlns:a="http://schemas.openxmlformats.org/drawingml/2006/main">
            <a:r>
              <a:rPr lang="en-US" sz="1500">
                <a:solidFill>
                  <a:srgbClr val="CBD5E1"/>
                </a:solidFill>
              </a:rPr>
              <a:t>• Code review and architecture reasoning for the cryptographic stack</a:t>
            </a:r>
          </a:p>
          <a:p xmlns:a="http://schemas.openxmlformats.org/drawingml/2006/main">
            <a:r>
              <a:rPr lang="en-US" sz="1500">
                <a:solidFill>
                  <a:srgbClr val="CBD5E1"/>
                </a:solidFill>
              </a:rPr>
              <a:t>• Refactoring the dashboard from tabbed to single-page scrollable layout</a:t>
            </a:r>
          </a:p>
          <a:p xmlns:a="http://schemas.openxmlformats.org/drawingml/2006/main">
            <a:r>
              <a:rPr lang="en-US" sz="1500">
                <a:solidFill>
                  <a:srgbClr val="CBD5E1"/>
                </a:solidFill>
              </a:rPr>
              <a:t>• Generating the seven realistic mock datasets</a:t>
            </a:r>
          </a:p>
          <a:p xmlns:a="http://schemas.openxmlformats.org/drawingml/2006/main">
            <a:r>
              <a:rPr lang="en-US" sz="1500">
                <a:solidFill>
                  <a:srgbClr val="CBD5E1"/>
                </a:solidFill>
              </a:rPr>
              <a:t>• Writing the PDF report module</a:t>
            </a:r>
          </a:p>
          <a:p xmlns:a="http://schemas.openxmlformats.org/drawingml/2006/main">
            <a:r>
              <a:rPr lang="en-US" sz="1500">
                <a:solidFill>
                  <a:srgbClr val="CBD5E1"/>
                </a:solidFill>
              </a:rPr>
              <a:t>• Navigating and safely adapting QBOM-ZT cryptographic primitives to the TitanSafe context</a:t>
            </a:r>
          </a:p>
          <a:p xmlns:a="http://schemas.openxmlformats.org/drawingml/2006/main">
            <a:r>
              <a:rPr lang="en-US" sz="1500">
                <a:solidFill>
                  <a:srgbClr val="CBD5E1"/>
                </a:solidFill>
              </a:rPr>
              <a:t>• Enforcing clean separation between the platform vault and the LEA view</a:t>
            </a:r>
          </a:p>
        </p:txBody>
      </p:sp>
    </p:spTree>
  </p:cSld>
</p:sld>
</file>

<file path=ppt/slides/slide12.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p:sp>
        <p:nvSpPr>
          <p:cNvPr id="100108" name="SlideNum"/>
          <p:cNvSpPr txBox="1"/>
          <p:nvPr/>
        </p:nvSpPr>
        <p:spPr>
          <a:xfrm xmlns:a="http://schemas.openxmlformats.org/drawingml/2006/main">
            <a:off x="10800000" y="180000"/>
            <a:ext cx="9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3B82F6"/>
                </a:solidFill>
              </a:rPr>
              <a:t>11</a:t>
            </a:r>
          </a:p>
        </p:txBody>
      </p:sp>
      <p:sp>
        <p:nvSpPr>
          <p:cNvPr id="100109" name="Title"/>
          <p:cNvSpPr txBox="1"/>
          <p:nvPr/>
        </p:nvSpPr>
        <p:spPr>
          <a:xfrm xmlns:a="http://schemas.openxmlformats.org/drawingml/2006/main">
            <a:off x="540000" y="360000"/>
            <a:ext cx="1008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FFFFFF"/>
                </a:solidFill>
              </a:rPr>
              <a:t>Roadmap &amp; Future Work</a:t>
            </a:r>
          </a:p>
        </p:txBody>
      </p:sp>
      <p:sp>
        <p:nvSpPr>
          <p:cNvPr id="100110" name="R1"/>
          <p:cNvSpPr txBox="1"/>
          <p:nvPr/>
        </p:nvSpPr>
        <p:spPr>
          <a:xfrm xmlns:a="http://schemas.openxmlformats.org/drawingml/2006/main">
            <a:off x="540000" y="1260000"/>
            <a:ext cx="3240000" cy="180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r>
              <a:rPr lang="en-US" sz="1400">
                <a:solidFill>
                  <a:srgbClr val="CBD5E1"/>
                </a:solidFill>
              </a:rPr>
              <a:t>Production NLP</a:t>
            </a:r>
          </a:p>
          <a:p xmlns:a="http://schemas.openxmlformats.org/drawingml/2006/main">
            <a:r>
              <a:rPr lang="en-US" sz="1400">
                <a:solidFill>
                  <a:srgbClr val="CBD5E1"/>
                </a:solidFill>
              </a:rPr>
              <a:t/>
            </a:r>
          </a:p>
          <a:p xmlns:a="http://schemas.openxmlformats.org/drawingml/2006/main">
            <a:r>
              <a:rPr lang="en-US" sz="1400">
                <a:solidFill>
                  <a:srgbClr val="CBD5E1"/>
                </a:solidFill>
              </a:rPr>
              <a:t>Replace the regex-based lexicon with fine-tuned multilingual NLP models covering Hinglish and regional scripts (Hindi, Tamil, Bengali) for richer threat detection.</a:t>
            </a:r>
          </a:p>
        </p:txBody>
      </p:sp>
      <p:sp>
        <p:nvSpPr>
          <p:cNvPr id="100111" name="R2"/>
          <p:cNvSpPr txBox="1"/>
          <p:nvPr/>
        </p:nvSpPr>
        <p:spPr>
          <a:xfrm xmlns:a="http://schemas.openxmlformats.org/drawingml/2006/main">
            <a:off x="4320000" y="1260000"/>
            <a:ext cx="3240000" cy="180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r>
              <a:rPr lang="en-US" sz="1400">
                <a:solidFill>
                  <a:srgbClr val="CBD5E1"/>
                </a:solidFill>
              </a:rPr>
              <a:t>Real Platform Integration</a:t>
            </a:r>
          </a:p>
          <a:p xmlns:a="http://schemas.openxmlformats.org/drawingml/2006/main">
            <a:r>
              <a:rPr lang="en-US" sz="1400">
                <a:solidFill>
                  <a:srgbClr val="CBD5E1"/>
                </a:solidFill>
              </a:rPr>
              <a:t/>
            </a:r>
          </a:p>
          <a:p xmlns:a="http://schemas.openxmlformats.org/drawingml/2006/main">
            <a:r>
              <a:rPr lang="en-US" sz="1400">
                <a:solidFill>
                  <a:srgbClr val="CBD5E1"/>
                </a:solidFill>
              </a:rPr>
              <a:t>Replace keyword-based dataset selection with a live platform data feed API — plugging TitanSafe directly into the platform's Trust &amp; Safety data pipeline.</a:t>
            </a:r>
          </a:p>
        </p:txBody>
      </p:sp>
      <p:sp>
        <p:nvSpPr>
          <p:cNvPr id="100112" name="R3"/>
          <p:cNvSpPr txBox="1"/>
          <p:nvPr/>
        </p:nvSpPr>
        <p:spPr>
          <a:xfrm xmlns:a="http://schemas.openxmlformats.org/drawingml/2006/main">
            <a:off x="8100000" y="1260000"/>
            <a:ext cx="3240000" cy="180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r>
              <a:rPr lang="en-US" sz="1400">
                <a:solidFill>
                  <a:srgbClr val="CBD5E1"/>
                </a:solidFill>
              </a:rPr>
              <a:t>Hardened Crypto</a:t>
            </a:r>
          </a:p>
          <a:p xmlns:a="http://schemas.openxmlformats.org/drawingml/2006/main">
            <a:r>
              <a:rPr lang="en-US" sz="1400">
                <a:solidFill>
                  <a:srgbClr val="CBD5E1"/>
                </a:solidFill>
              </a:rPr>
              <a:t/>
            </a:r>
          </a:p>
          <a:p xmlns:a="http://schemas.openxmlformats.org/drawingml/2006/main">
            <a:r>
              <a:rPr lang="en-US" sz="1400">
                <a:solidFill>
                  <a:srgbClr val="CBD5E1"/>
                </a:solidFill>
              </a:rPr>
              <a:t>Swap pure-Python P-256 implementation for constant-time libsecp256k1 (coincurve) or OpenSSL — security-audited and production-safe.</a:t>
            </a:r>
          </a:p>
        </p:txBody>
      </p:sp>
      <p:sp>
        <p:nvSpPr>
          <p:cNvPr id="100113" name="R4"/>
          <p:cNvSpPr txBox="1"/>
          <p:nvPr/>
        </p:nvSpPr>
        <p:spPr>
          <a:xfrm xmlns:a="http://schemas.openxmlformats.org/drawingml/2006/main">
            <a:off x="540000" y="3240000"/>
            <a:ext cx="3240000" cy="162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r>
              <a:rPr lang="en-US" sz="1400">
                <a:solidFill>
                  <a:srgbClr val="CBD5E1"/>
                </a:solidFill>
              </a:rPr>
              <a:t>Multi-Platform Support</a:t>
            </a:r>
          </a:p>
          <a:p xmlns:a="http://schemas.openxmlformats.org/drawingml/2006/main">
            <a:r>
              <a:rPr lang="en-US" sz="1400">
                <a:solidFill>
                  <a:srgbClr val="CBD5E1"/>
                </a:solidFill>
              </a:rPr>
              <a:t/>
            </a:r>
          </a:p>
          <a:p xmlns:a="http://schemas.openxmlformats.org/drawingml/2006/main">
            <a:r>
              <a:rPr lang="en-US" sz="1400">
                <a:solidFill>
                  <a:srgbClr val="CBD5E1"/>
                </a:solidFill>
              </a:rPr>
              <a:t>Extend to WhatsApp CIB signals (forwarding chains), Telegram channel monitoring, and YouTube comment cluster detection.</a:t>
            </a:r>
          </a:p>
        </p:txBody>
      </p:sp>
      <p:sp>
        <p:nvSpPr>
          <p:cNvPr id="100114" name="R5"/>
          <p:cNvSpPr txBox="1"/>
          <p:nvPr/>
        </p:nvSpPr>
        <p:spPr>
          <a:xfrm xmlns:a="http://schemas.openxmlformats.org/drawingml/2006/main">
            <a:off x="4320000" y="3240000"/>
            <a:ext cx="3240000" cy="162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r>
              <a:rPr lang="en-US" sz="1400">
                <a:solidFill>
                  <a:srgbClr val="CBD5E1"/>
                </a:solidFill>
              </a:rPr>
              <a:t>DPDP Compliance Audit</a:t>
            </a:r>
          </a:p>
          <a:p xmlns:a="http://schemas.openxmlformats.org/drawingml/2006/main">
            <a:r>
              <a:rPr lang="en-US" sz="1400">
                <a:solidFill>
                  <a:srgbClr val="CBD5E1"/>
                </a:solidFill>
              </a:rPr>
              <a:t/>
            </a:r>
          </a:p>
          <a:p xmlns:a="http://schemas.openxmlformats.org/drawingml/2006/main">
            <a:r>
              <a:rPr lang="en-US" sz="1400">
                <a:solidFill>
                  <a:srgbClr val="CBD5E1"/>
                </a:solidFill>
              </a:rPr>
              <a:t>Formal legal review of DPDP s.17 State exemption boundaries. Integrate digital locker for LEA evidence storage and retention compliance.</a:t>
            </a:r>
          </a:p>
        </p:txBody>
      </p:sp>
      <p:sp>
        <p:nvSpPr>
          <p:cNvPr id="100115" name="R6"/>
          <p:cNvSpPr txBox="1"/>
          <p:nvPr/>
        </p:nvSpPr>
        <p:spPr>
          <a:xfrm xmlns:a="http://schemas.openxmlformats.org/drawingml/2006/main">
            <a:off x="8100000" y="3240000"/>
            <a:ext cx="3240000" cy="162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r>
              <a:rPr lang="en-US" sz="1400">
                <a:solidFill>
                  <a:srgbClr val="CBD5E1"/>
                </a:solidFill>
              </a:rPr>
              <a:t>Signed PDF Reports</a:t>
            </a:r>
          </a:p>
          <a:p xmlns:a="http://schemas.openxmlformats.org/drawingml/2006/main">
            <a:r>
              <a:rPr lang="en-US" sz="1400">
                <a:solidFill>
                  <a:srgbClr val="CBD5E1"/>
                </a:solidFill>
              </a:rPr>
              <a:t/>
            </a:r>
          </a:p>
          <a:p xmlns:a="http://schemas.openxmlformats.org/drawingml/2006/main">
            <a:r>
              <a:rPr lang="en-US" sz="1400">
                <a:solidFill>
                  <a:srgbClr val="CBD5E1"/>
                </a:solidFill>
              </a:rPr>
              <a:t>Replace browser-printed HTML report with a cryptographically signed PDF — tamper-evident and suitable as a primary court document.</a:t>
            </a:r>
          </a:p>
        </p:txBody>
      </p:sp>
    </p:spTree>
  </p:cSld>
</p:sld>
</file>

<file path=ppt/slides/slide13.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p:sp>
        <p:nvSpPr>
          <p:cNvPr id="100116" name="Title"/>
          <p:cNvSpPr txBox="1"/>
          <p:nvPr/>
        </p:nvSpPr>
        <p:spPr>
          <a:xfrm xmlns:a="http://schemas.openxmlformats.org/drawingml/2006/main">
            <a:off x="540000" y="1440000"/>
            <a:ext cx="10800000" cy="108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5200" b="1">
                <a:solidFill>
                  <a:srgbClr val="FFFFFF"/>
                </a:solidFill>
              </a:rPr>
              <a:t>Thank You</a:t>
            </a:r>
          </a:p>
        </p:txBody>
      </p:sp>
      <p:sp>
        <p:nvSpPr>
          <p:cNvPr id="100117" name="Sub"/>
          <p:cNvSpPr txBox="1"/>
          <p:nvPr/>
        </p:nvSpPr>
        <p:spPr>
          <a:xfrm xmlns:a="http://schemas.openxmlformats.org/drawingml/2006/main">
            <a:off x="540000" y="2700000"/>
            <a:ext cx="1080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000">
                <a:solidFill>
                  <a:srgbClr val="3B82F6"/>
                </a:solidFill>
              </a:rPr>
              <a:t>TitanSafe — Privacy-Preserving Social Media Threat Intelligence</a:t>
            </a:r>
          </a:p>
        </p:txBody>
      </p:sp>
      <p:sp>
        <p:nvSpPr>
          <p:cNvPr id="100118" name="Demo"/>
          <p:cNvSpPr txBox="1"/>
          <p:nvPr/>
        </p:nvSpPr>
        <p:spPr>
          <a:xfrm xmlns:a="http://schemas.openxmlformats.org/drawingml/2006/main">
            <a:off x="540000" y="3312000"/>
            <a:ext cx="10800000" cy="90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500">
                <a:solidFill>
                  <a:srgbClr val="94A3B8"/>
                </a:solidFill>
              </a:rPr>
              <a:t>Try the demo:  python -m TitanSafe.cli demo --out out --pdf</a:t>
            </a:r>
          </a:p>
          <a:p xmlns:a="http://schemas.openxmlformats.org/drawingml/2006/main">
            <a:r>
              <a:rPr lang="en-US" sz="1500">
                <a:solidFill>
                  <a:srgbClr val="94A3B8"/>
                </a:solidFill>
              </a:rPr>
              <a:t>Verify proofs:  python -m TitanSafe.cli verify out</a:t>
            </a:r>
          </a:p>
          <a:p xmlns:a="http://schemas.openxmlformats.org/drawingml/2006/main">
            <a:r>
              <a:rPr lang="en-US" sz="1500">
                <a:solidFill>
                  <a:srgbClr val="94A3B8"/>
                </a:solidFill>
              </a:rPr>
              <a:t>Web interface:  python -m TitanSafe.app</a:t>
            </a:r>
          </a:p>
        </p:txBody>
      </p:sp>
      <p:sp>
        <p:nvSpPr>
          <p:cNvPr id="100119" name="Team"/>
          <p:cNvSpPr txBox="1"/>
          <p:nvPr/>
        </p:nvSpPr>
        <p:spPr>
          <a:xfrm xmlns:a="http://schemas.openxmlformats.org/drawingml/2006/main">
            <a:off x="540000" y="5580000"/>
            <a:ext cx="108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475569"/>
                </a:solidFill>
              </a:rPr>
              <a:t>Team TitanSafe  ·  Shiv &amp; Narvin  ·  Track: AI  ·  Built with IBM Bob</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OfficeCLI/1.0.152</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2026-09-28T09:13:57Z</dcterms:created>
  <cp:lastModifiedBy>OfficeCLI</cp:lastModifiedBy>
  <dcterms:modified xsi:type="dcterms:W3CDTF">2026-09-28T09:13:57Z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1.0.152</vt:lpwstr>
  </op:property>
  <op:property fmtid="{D5CDD505-2E9C-101B-9397-08002B2CF9AE}" pid="3" name="OfficeCLI.LastModified">
    <vt:lpwstr xmlns:vt="http://schemas.openxmlformats.org/officeDocument/2006/docPropsVTypes">2026-09-28T09:17:20Z</vt:lpwstr>
  </op:property>
</op:Properties>
</file>